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ec5446d5a34616" /><Relationship Type="http://schemas.openxmlformats.org/officeDocument/2006/relationships/extended-properties" Target="/docProps/app.xml" Id="R5da8942dba7542ef" /><Relationship Type="http://schemas.openxmlformats.org/officeDocument/2006/relationships/officeDocument" Target="/ppt/presentation.xml" Id="R2b6c0d07cd8344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3011a6f7834a18"/>
  </p:sldMasterIdLst>
  <p:sldIdLst>
    <p:sldId xmlns:r="http://schemas.openxmlformats.org/officeDocument/2006/relationships" id="256" r:id="Rdfda1e1a84724ee4"/>
    <p:sldId xmlns:r="http://schemas.openxmlformats.org/officeDocument/2006/relationships" id="257" r:id="Raf8ff59d481a44da"/>
    <p:sldId xmlns:r="http://schemas.openxmlformats.org/officeDocument/2006/relationships" id="258" r:id="Raf9b513bebbf4ee6"/>
    <p:sldId xmlns:r="http://schemas.openxmlformats.org/officeDocument/2006/relationships" id="259" r:id="R0fece9061ece4d27"/>
    <p:sldId xmlns:r="http://schemas.openxmlformats.org/officeDocument/2006/relationships" id="260" r:id="R439072726c4c40da"/>
    <p:sldId xmlns:r="http://schemas.openxmlformats.org/officeDocument/2006/relationships" id="261" r:id="R4b57bc2d7d5b42cf"/>
    <p:sldId xmlns:r="http://schemas.openxmlformats.org/officeDocument/2006/relationships" id="262" r:id="R412fbecd3dfd4d84"/>
    <p:sldId xmlns:r="http://schemas.openxmlformats.org/officeDocument/2006/relationships" id="263" r:id="R2580661b84634e1d"/>
    <p:sldId xmlns:r="http://schemas.openxmlformats.org/officeDocument/2006/relationships" id="264" r:id="R576e48496cf64ebc"/>
    <p:sldId xmlns:r="http://schemas.openxmlformats.org/officeDocument/2006/relationships" id="265" r:id="R76e980a9c9b94efb"/>
    <p:sldId xmlns:r="http://schemas.openxmlformats.org/officeDocument/2006/relationships" id="266" r:id="R68b4ae8c7e9b4d13"/>
    <p:sldId xmlns:r="http://schemas.openxmlformats.org/officeDocument/2006/relationships" id="267" r:id="R37a21d15f40e4d94"/>
    <p:sldId xmlns:r="http://schemas.openxmlformats.org/officeDocument/2006/relationships" id="268" r:id="Re312969de1cb43cb"/>
    <p:sldId xmlns:r="http://schemas.openxmlformats.org/officeDocument/2006/relationships" id="269" r:id="R6fe56a32481040f7"/>
    <p:sldId xmlns:r="http://schemas.openxmlformats.org/officeDocument/2006/relationships" id="270" r:id="R58c6dc9caac34612"/>
    <p:sldId xmlns:r="http://schemas.openxmlformats.org/officeDocument/2006/relationships" id="271" r:id="Rf481133715f44a87"/>
    <p:sldId xmlns:r="http://schemas.openxmlformats.org/officeDocument/2006/relationships" id="272" r:id="R38977e477aff4569"/>
    <p:sldId xmlns:r="http://schemas.openxmlformats.org/officeDocument/2006/relationships" id="273" r:id="Rb5ba3c943e534f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e046d988144e86" /><Relationship Type="http://schemas.openxmlformats.org/officeDocument/2006/relationships/slideMaster" Target="/ppt/slideMasters/slideMaster1.xml" Id="Rb63011a6f7834a18" /><Relationship Type="http://schemas.openxmlformats.org/officeDocument/2006/relationships/presProps" Target="/ppt/presProps.xml" Id="R1342cf36fd324238" /><Relationship Type="http://schemas.openxmlformats.org/officeDocument/2006/relationships/tableStyles" Target="/ppt/tableStyles.xml" Id="Rade6250fb4fe473e" /><Relationship Type="http://schemas.openxmlformats.org/officeDocument/2006/relationships/slide" Target="/ppt/slides/slide1.xml" Id="Rdfda1e1a84724ee4" /><Relationship Type="http://schemas.openxmlformats.org/officeDocument/2006/relationships/slide" Target="/ppt/slides/slide2.xml" Id="Raf8ff59d481a44da" /><Relationship Type="http://schemas.openxmlformats.org/officeDocument/2006/relationships/slide" Target="/ppt/slides/slide3.xml" Id="Raf9b513bebbf4ee6" /><Relationship Type="http://schemas.openxmlformats.org/officeDocument/2006/relationships/slide" Target="/ppt/slides/slide4.xml" Id="R0fece9061ece4d27" /><Relationship Type="http://schemas.openxmlformats.org/officeDocument/2006/relationships/slide" Target="/ppt/slides/slide5.xml" Id="R439072726c4c40da" /><Relationship Type="http://schemas.openxmlformats.org/officeDocument/2006/relationships/slide" Target="/ppt/slides/slide6.xml" Id="R4b57bc2d7d5b42cf" /><Relationship Type="http://schemas.openxmlformats.org/officeDocument/2006/relationships/slide" Target="/ppt/slides/slide7.xml" Id="R412fbecd3dfd4d84" /><Relationship Type="http://schemas.openxmlformats.org/officeDocument/2006/relationships/slide" Target="/ppt/slides/slide8.xml" Id="R2580661b84634e1d" /><Relationship Type="http://schemas.openxmlformats.org/officeDocument/2006/relationships/slide" Target="/ppt/slides/slide9.xml" Id="R576e48496cf64ebc" /><Relationship Type="http://schemas.openxmlformats.org/officeDocument/2006/relationships/slide" Target="/ppt/slides/slide10.xml" Id="R76e980a9c9b94efb" /><Relationship Type="http://schemas.openxmlformats.org/officeDocument/2006/relationships/slide" Target="/ppt/slides/slide11.xml" Id="R68b4ae8c7e9b4d13" /><Relationship Type="http://schemas.openxmlformats.org/officeDocument/2006/relationships/slide" Target="/ppt/slides/slide12.xml" Id="R37a21d15f40e4d94" /><Relationship Type="http://schemas.openxmlformats.org/officeDocument/2006/relationships/slide" Target="/ppt/slides/slide13.xml" Id="Re312969de1cb43cb" /><Relationship Type="http://schemas.openxmlformats.org/officeDocument/2006/relationships/slide" Target="/ppt/slides/slide14.xml" Id="R6fe56a32481040f7" /><Relationship Type="http://schemas.openxmlformats.org/officeDocument/2006/relationships/slide" Target="/ppt/slides/slide15.xml" Id="R58c6dc9caac34612" /><Relationship Type="http://schemas.openxmlformats.org/officeDocument/2006/relationships/slide" Target="/ppt/slides/slide16.xml" Id="Rf481133715f44a87" /><Relationship Type="http://schemas.openxmlformats.org/officeDocument/2006/relationships/slide" Target="/ppt/slides/slide17.xml" Id="R38977e477aff4569" /><Relationship Type="http://schemas.openxmlformats.org/officeDocument/2006/relationships/slide" Target="/ppt/slides/slide18.xml" Id="Rb5ba3c943e534f6b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ef541413764f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d251afad7241d4" /><Relationship Type="http://schemas.openxmlformats.org/officeDocument/2006/relationships/slideLayout" Target="/ppt/slideLayouts/slideLayout1.xml" Id="Rb594e731692240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94e731692240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27c143a3c49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86eaeffba4b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ec696dd8d45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c101571a447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d86886e9a4c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f9612953943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d3a8ce05047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09045458d47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1cc8818c047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ec2fef7c04d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1c4513bde40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2799541bd4a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aab683e59445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aa38022b24b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1af8f666848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f728128494c0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e8c1676604a3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88bf626e944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frvqa-1160-657">
            <a:extLst xmlns:a="http://schemas.openxmlformats.org/drawingml/2006/main">
              <a:ext uri="{FF2B5EF4-FFF2-40B4-BE49-F238E27FC236}">
                <a16:creationId xmlns:a16="http://schemas.microsoft.com/office/drawing/2014/main" id="{05485C97-D1F9-4953-8BBA-5AEA7D7A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01</a:t>
            </a:r>
          </a:p>
        </p:txBody>
      </p:sp>
      <p:sp>
        <p:nvSpPr>
          <p:cNvPr id="2" name="text-7frvqa-72-140">
            <a:extLst xmlns:a="http://schemas.openxmlformats.org/drawingml/2006/main">
              <a:ext uri="{FF2B5EF4-FFF2-40B4-BE49-F238E27FC236}">
                <a16:creationId xmlns:a16="http://schemas.microsoft.com/office/drawing/2014/main" id="{B652AD8D-3F50-4431-943F-4F6F9B1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7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87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ADLC</a:t>
            </a:r>
          </a:p>
        </p:txBody>
      </p:sp>
      <p:sp>
        <p:nvSpPr>
          <p:cNvPr id="3" name="text-7frvqa-72-292">
            <a:extLst xmlns:a="http://schemas.openxmlformats.org/drawingml/2006/main">
              <a:ext uri="{FF2B5EF4-FFF2-40B4-BE49-F238E27FC236}">
                <a16:creationId xmlns:a16="http://schemas.microsoft.com/office/drawing/2014/main" id="{07724DD9-3DD4-4DF8-9132-DD48074C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45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645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in Action</a:t>
            </a:r>
          </a:p>
        </p:txBody>
      </p:sp>
      <p:sp>
        <p:nvSpPr>
          <p:cNvPr id="4" name="text-7frvqa-80-474">
            <a:extLst xmlns:a="http://schemas.openxmlformats.org/drawingml/2006/main">
              <a:ext uri="{FF2B5EF4-FFF2-40B4-BE49-F238E27FC236}">
                <a16:creationId xmlns:a16="http://schemas.microsoft.com/office/drawing/2014/main" id="{E553E7CE-E6C6-4703-9798-A9B1978E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6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Build a game, test it, and improve it with evidence</a:t>
            </a:r>
          </a:p>
        </p:txBody>
      </p:sp>
      <p:sp>
        <p:nvSpPr>
          <p:cNvPr id="5" name="text-7frvqa-80-602">
            <a:extLst xmlns:a="http://schemas.openxmlformats.org/drawingml/2006/main">
              <a:ext uri="{FF2B5EF4-FFF2-40B4-BE49-F238E27FC236}">
                <a16:creationId xmlns:a16="http://schemas.microsoft.com/office/drawing/2014/main" id="{4339E89C-6ECB-4839-AD6C-606379B7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34050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80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GFIT Workshop</a:t>
            </a:r>
          </a:p>
        </p:txBody>
      </p:sp>
    </p:spTree>
    <p:extLst>
      <p:ext uri="{BB962C8B-B14F-4D97-AF65-F5344CB8AC3E}">
        <p14:creationId xmlns:p14="http://schemas.microsoft.com/office/powerpoint/2010/main" val="857518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zf9sva-1160-657">
            <a:extLst xmlns:a="http://schemas.openxmlformats.org/drawingml/2006/main">
              <a:ext uri="{FF2B5EF4-FFF2-40B4-BE49-F238E27FC236}">
                <a16:creationId xmlns:a16="http://schemas.microsoft.com/office/drawing/2014/main" id="{EF696945-E43B-4701-8824-FBBF364F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02</a:t>
            </a:r>
          </a:p>
        </p:txBody>
      </p:sp>
      <p:sp>
        <p:nvSpPr>
          <p:cNvPr id="2" name="text-zf9sva-72-58">
            <a:extLst xmlns:a="http://schemas.openxmlformats.org/drawingml/2006/main">
              <a:ext uri="{FF2B5EF4-FFF2-40B4-BE49-F238E27FC236}">
                <a16:creationId xmlns:a16="http://schemas.microsoft.com/office/drawing/2014/main" id="{1BF04D18-1B9A-43C7-893E-3DE7B584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One game, two Intents</a:t>
            </a:r>
          </a:p>
        </p:txBody>
      </p:sp>
      <p:sp>
        <p:nvSpPr>
          <p:cNvPr id="3" name="text-zf9sva-76-195">
            <a:extLst xmlns:a="http://schemas.openxmlformats.org/drawingml/2006/main">
              <a:ext uri="{FF2B5EF4-FFF2-40B4-BE49-F238E27FC236}">
                <a16:creationId xmlns:a16="http://schemas.microsoft.com/office/drawing/2014/main" id="{5B55C9ED-B774-4D58-A561-B043B090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228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72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72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01</a:t>
            </a:r>
          </a:p>
        </p:txBody>
      </p:sp>
      <p:sp>
        <p:nvSpPr>
          <p:cNvPr id="4" name="text-zf9sva-340-204">
            <a:extLst xmlns:a="http://schemas.openxmlformats.org/drawingml/2006/main">
              <a:ext uri="{FF2B5EF4-FFF2-40B4-BE49-F238E27FC236}">
                <a16:creationId xmlns:a16="http://schemas.microsoft.com/office/drawing/2014/main" id="{1EE7231E-DD54-401A-94BC-B2D74115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43100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Finish one round</a:t>
            </a:r>
          </a:p>
        </p:txBody>
      </p:sp>
      <p:sp>
        <p:nvSpPr>
          <p:cNvPr id="5" name="text-zf9sva-342-298">
            <a:extLst xmlns:a="http://schemas.openxmlformats.org/drawingml/2006/main">
              <a:ext uri="{FF2B5EF4-FFF2-40B4-BE49-F238E27FC236}">
                <a16:creationId xmlns:a16="http://schemas.microsoft.com/office/drawing/2014/main" id="{26EDAE18-6F60-4CDC-AD31-45C9C0B2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38450"/>
            <a:ext cx="752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A number game a player can start and finish alone</a:t>
            </a:r>
          </a:p>
        </p:txBody>
      </p:sp>
      <p:sp>
        <p:nvSpPr>
          <p:cNvPr id="6" name="text-zf9sva-76-406">
            <a:extLst xmlns:a="http://schemas.openxmlformats.org/drawingml/2006/main">
              <a:ext uri="{FF2B5EF4-FFF2-40B4-BE49-F238E27FC236}">
                <a16:creationId xmlns:a16="http://schemas.microsoft.com/office/drawing/2014/main" id="{A4D79BF6-36C8-4295-8000-B408D926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28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7200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7200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02</a:t>
            </a:r>
          </a:p>
        </p:txBody>
      </p:sp>
      <p:sp>
        <p:nvSpPr>
          <p:cNvPr id="7" name="text-zf9sva-340-420">
            <a:extLst xmlns:a="http://schemas.openxmlformats.org/drawingml/2006/main">
              <a:ext uri="{FF2B5EF4-FFF2-40B4-BE49-F238E27FC236}">
                <a16:creationId xmlns:a16="http://schemas.microsoft.com/office/drawing/2014/main" id="{139BEC64-E415-4B19-B259-7F8EB2B6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00500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Choose a second round</a:t>
            </a:r>
          </a:p>
        </p:txBody>
      </p:sp>
      <p:sp>
        <p:nvSpPr>
          <p:cNvPr id="8" name="text-zf9sva-342-512">
            <a:extLst xmlns:a="http://schemas.openxmlformats.org/drawingml/2006/main">
              <a:ext uri="{FF2B5EF4-FFF2-40B4-BE49-F238E27FC236}">
                <a16:creationId xmlns:a16="http://schemas.microsoft.com/office/drawing/2014/main" id="{604DE6FC-02BB-424E-A6B2-26CE42A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76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Add replay and measure second-round starts</a:t>
            </a:r>
          </a:p>
        </p:txBody>
      </p:sp>
    </p:spTree>
    <p:extLst>
      <p:ext uri="{BB962C8B-B14F-4D97-AF65-F5344CB8AC3E}">
        <p14:creationId xmlns:p14="http://schemas.microsoft.com/office/powerpoint/2010/main" val="12519037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owli69-1160-657">
            <a:extLst xmlns:a="http://schemas.openxmlformats.org/drawingml/2006/main">
              <a:ext uri="{FF2B5EF4-FFF2-40B4-BE49-F238E27FC236}">
                <a16:creationId xmlns:a16="http://schemas.microsoft.com/office/drawing/2014/main" id="{20FD87CD-4185-4BE0-AB83-9064950A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03</a:t>
            </a:r>
          </a:p>
        </p:txBody>
      </p:sp>
      <p:sp>
        <p:nvSpPr>
          <p:cNvPr id="2" name="text-owli69-72-58">
            <a:extLst xmlns:a="http://schemas.openxmlformats.org/drawingml/2006/main">
              <a:ext uri="{FF2B5EF4-FFF2-40B4-BE49-F238E27FC236}">
                <a16:creationId xmlns:a16="http://schemas.microsoft.com/office/drawing/2014/main" id="{EECFF7FA-ACB0-4324-B2B4-E3DFA823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The ADLC loop</a:t>
            </a:r>
          </a:p>
        </p:txBody>
      </p:sp>
      <p:sp>
        <p:nvSpPr>
          <p:cNvPr id="3" name="text-owli69-76-190">
            <a:extLst xmlns:a="http://schemas.openxmlformats.org/drawingml/2006/main">
              <a:ext uri="{FF2B5EF4-FFF2-40B4-BE49-F238E27FC236}">
                <a16:creationId xmlns:a16="http://schemas.microsoft.com/office/drawing/2014/main" id="{6ED43AE8-4A0F-4506-87DE-26BE780C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Intent</a:t>
            </a:r>
          </a:p>
        </p:txBody>
      </p:sp>
      <p:sp>
        <p:nvSpPr>
          <p:cNvPr id="4" name="text-owli69-76-244">
            <a:extLst xmlns:a="http://schemas.openxmlformats.org/drawingml/2006/main">
              <a:ext uri="{FF2B5EF4-FFF2-40B4-BE49-F238E27FC236}">
                <a16:creationId xmlns:a16="http://schemas.microsoft.com/office/drawing/2014/main" id="{14AAE039-748F-4628-ACBF-B7CE1823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Set the question and measures</a:t>
            </a:r>
          </a:p>
        </p:txBody>
      </p:sp>
      <p:sp>
        <p:nvSpPr>
          <p:cNvPr id="5" name="text-owli69-76-315">
            <a:extLst xmlns:a="http://schemas.openxmlformats.org/drawingml/2006/main">
              <a:ext uri="{FF2B5EF4-FFF2-40B4-BE49-F238E27FC236}">
                <a16:creationId xmlns:a16="http://schemas.microsoft.com/office/drawing/2014/main" id="{97A1B232-88DB-422C-BD09-7BED75A2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Generate</a:t>
            </a:r>
          </a:p>
        </p:txBody>
      </p:sp>
      <p:sp>
        <p:nvSpPr>
          <p:cNvPr id="6" name="text-owli69-76-369">
            <a:extLst xmlns:a="http://schemas.openxmlformats.org/drawingml/2006/main">
              <a:ext uri="{FF2B5EF4-FFF2-40B4-BE49-F238E27FC236}">
                <a16:creationId xmlns:a16="http://schemas.microsoft.com/office/drawing/2014/main" id="{409B2013-80BA-4C60-8FEF-874D00D6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Create work for the context</a:t>
            </a:r>
          </a:p>
        </p:txBody>
      </p:sp>
      <p:sp>
        <p:nvSpPr>
          <p:cNvPr id="7" name="text-owli69-76-440">
            <a:extLst xmlns:a="http://schemas.openxmlformats.org/drawingml/2006/main">
              <a:ext uri="{FF2B5EF4-FFF2-40B4-BE49-F238E27FC236}">
                <a16:creationId xmlns:a16="http://schemas.microsoft.com/office/drawing/2014/main" id="{1EA39A04-2043-4306-9D12-FB887AE7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Validate</a:t>
            </a:r>
          </a:p>
        </p:txBody>
      </p:sp>
      <p:sp>
        <p:nvSpPr>
          <p:cNvPr id="8" name="text-owli69-76-494">
            <a:extLst xmlns:a="http://schemas.openxmlformats.org/drawingml/2006/main">
              <a:ext uri="{FF2B5EF4-FFF2-40B4-BE49-F238E27FC236}">
                <a16:creationId xmlns:a16="http://schemas.microsoft.com/office/drawing/2014/main" id="{9BF558FD-7F50-408C-BA52-93A4B2D1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Check evidence during the work</a:t>
            </a:r>
          </a:p>
        </p:txBody>
      </p:sp>
      <p:sp>
        <p:nvSpPr>
          <p:cNvPr id="9" name="text-owli69-670-190">
            <a:extLst xmlns:a="http://schemas.openxmlformats.org/drawingml/2006/main">
              <a:ext uri="{FF2B5EF4-FFF2-40B4-BE49-F238E27FC236}">
                <a16:creationId xmlns:a16="http://schemas.microsoft.com/office/drawing/2014/main" id="{FF1E6C3C-FD6C-4A4F-B638-3B8D32F3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Govern</a:t>
            </a:r>
          </a:p>
        </p:txBody>
      </p:sp>
      <p:sp>
        <p:nvSpPr>
          <p:cNvPr id="10" name="text-owli69-670-244">
            <a:extLst xmlns:a="http://schemas.openxmlformats.org/drawingml/2006/main">
              <a:ext uri="{FF2B5EF4-FFF2-40B4-BE49-F238E27FC236}">
                <a16:creationId xmlns:a16="http://schemas.microsoft.com/office/drawing/2014/main" id="{31945107-D73F-4D12-89C1-E6B6797B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 human decides</a:t>
            </a:r>
          </a:p>
        </p:txBody>
      </p:sp>
      <p:sp>
        <p:nvSpPr>
          <p:cNvPr id="11" name="text-owli69-670-315">
            <a:extLst xmlns:a="http://schemas.openxmlformats.org/drawingml/2006/main">
              <a:ext uri="{FF2B5EF4-FFF2-40B4-BE49-F238E27FC236}">
                <a16:creationId xmlns:a16="http://schemas.microsoft.com/office/drawing/2014/main" id="{4B4BE94C-3A4C-458F-9780-9FDAE12F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0375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Deploy</a:t>
            </a:r>
          </a:p>
        </p:txBody>
      </p:sp>
      <p:sp>
        <p:nvSpPr>
          <p:cNvPr id="12" name="text-owli69-670-369">
            <a:extLst xmlns:a="http://schemas.openxmlformats.org/drawingml/2006/main">
              <a:ext uri="{FF2B5EF4-FFF2-40B4-BE49-F238E27FC236}">
                <a16:creationId xmlns:a16="http://schemas.microsoft.com/office/drawing/2014/main" id="{FACED34D-1E21-459F-89EE-E0BB3E98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14725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Open a revision for testing</a:t>
            </a:r>
          </a:p>
        </p:txBody>
      </p:sp>
      <p:sp>
        <p:nvSpPr>
          <p:cNvPr id="13" name="text-owli69-670-440">
            <a:extLst xmlns:a="http://schemas.openxmlformats.org/drawingml/2006/main">
              <a:ext uri="{FF2B5EF4-FFF2-40B4-BE49-F238E27FC236}">
                <a16:creationId xmlns:a16="http://schemas.microsoft.com/office/drawing/2014/main" id="{59C899CB-604C-47AB-87DF-ABF70E42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910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6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Observe</a:t>
            </a:r>
          </a:p>
        </p:txBody>
      </p:sp>
      <p:sp>
        <p:nvSpPr>
          <p:cNvPr id="14" name="text-owli69-670-494">
            <a:extLst xmlns:a="http://schemas.openxmlformats.org/drawingml/2006/main">
              <a:ext uri="{FF2B5EF4-FFF2-40B4-BE49-F238E27FC236}">
                <a16:creationId xmlns:a16="http://schemas.microsoft.com/office/drawing/2014/main" id="{C9BBB298-06B0-4CD2-A1DA-12E8A12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053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Measure results for the next Intent</a:t>
            </a:r>
          </a:p>
        </p:txBody>
      </p:sp>
      <p:sp>
        <p:nvSpPr>
          <p:cNvPr id="15" name="text-owli69-76-605">
            <a:extLst xmlns:a="http://schemas.openxmlformats.org/drawingml/2006/main">
              <a:ext uri="{FF2B5EF4-FFF2-40B4-BE49-F238E27FC236}">
                <a16:creationId xmlns:a16="http://schemas.microsoft.com/office/drawing/2014/main" id="{FBD68C4F-0253-4942-BA87-5EAA1C13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Generate and Validate work together. Observe sends new questions to Intent.</a:t>
            </a:r>
          </a:p>
        </p:txBody>
      </p:sp>
    </p:spTree>
    <p:extLst>
      <p:ext uri="{BB962C8B-B14F-4D97-AF65-F5344CB8AC3E}">
        <p14:creationId xmlns:p14="http://schemas.microsoft.com/office/powerpoint/2010/main" val="137249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vsrdnl-1160-657">
            <a:extLst xmlns:a="http://schemas.openxmlformats.org/drawingml/2006/main">
              <a:ext uri="{FF2B5EF4-FFF2-40B4-BE49-F238E27FC236}">
                <a16:creationId xmlns:a16="http://schemas.microsoft.com/office/drawing/2014/main" id="{FB3649CF-C4EE-4493-8DCE-73D5EB29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04</a:t>
            </a:r>
          </a:p>
        </p:txBody>
      </p:sp>
      <p:sp>
        <p:nvSpPr>
          <p:cNvPr id="2" name="text-vsrdnl-72-58">
            <a:extLst xmlns:a="http://schemas.openxmlformats.org/drawingml/2006/main">
              <a:ext uri="{FF2B5EF4-FFF2-40B4-BE49-F238E27FC236}">
                <a16:creationId xmlns:a16="http://schemas.microsoft.com/office/drawing/2014/main" id="{83D0AD12-BB1B-489C-A1F1-483FB7BF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Human and Agent roles</a:t>
            </a:r>
          </a:p>
        </p:txBody>
      </p:sp>
      <p:sp>
        <p:nvSpPr>
          <p:cNvPr id="3" name="text-vsrdnl-76-185">
            <a:extLst xmlns:a="http://schemas.openxmlformats.org/drawingml/2006/main">
              <a:ext uri="{FF2B5EF4-FFF2-40B4-BE49-F238E27FC236}">
                <a16:creationId xmlns:a16="http://schemas.microsoft.com/office/drawing/2014/main" id="{1EA8B5A1-09C2-4BEC-9016-23B4AACA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5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45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Human</a:t>
            </a:r>
          </a:p>
        </p:txBody>
      </p:sp>
      <p:sp>
        <p:nvSpPr>
          <p:cNvPr id="4" name="text-vsrdnl-76-288">
            <a:extLst xmlns:a="http://schemas.openxmlformats.org/drawingml/2006/main">
              <a:ext uri="{FF2B5EF4-FFF2-40B4-BE49-F238E27FC236}">
                <a16:creationId xmlns:a16="http://schemas.microsoft.com/office/drawing/2014/main" id="{BB499EFB-B17A-47A2-A435-76AF2CED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4857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Set the Intent and scope</a:t>
            </a:r>
          </a:p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Review evidence and test the game</a:t>
            </a:r>
          </a:p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Decide to continue or revise</a:t>
            </a:r>
          </a:p>
        </p:txBody>
      </p:sp>
      <p:sp>
        <p:nvSpPr>
          <p:cNvPr id="5" name="text-vsrdnl-686-185">
            <a:extLst xmlns:a="http://schemas.openxmlformats.org/drawingml/2006/main">
              <a:ext uri="{FF2B5EF4-FFF2-40B4-BE49-F238E27FC236}">
                <a16:creationId xmlns:a16="http://schemas.microsoft.com/office/drawing/2014/main" id="{637CC587-CD70-4BE6-85F9-FB202FA8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62125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5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45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Agent</a:t>
            </a:r>
          </a:p>
        </p:txBody>
      </p:sp>
      <p:sp>
        <p:nvSpPr>
          <p:cNvPr id="6" name="text-vsrdnl-686-288">
            <a:extLst xmlns:a="http://schemas.openxmlformats.org/drawingml/2006/main">
              <a:ext uri="{FF2B5EF4-FFF2-40B4-BE49-F238E27FC236}">
                <a16:creationId xmlns:a16="http://schemas.microsoft.com/office/drawing/2014/main" id="{0C26B495-45E5-4B13-AF42-5E94B036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4857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Create the Spec and Plan</a:t>
            </a:r>
          </a:p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Build the work with tests</a:t>
            </a:r>
          </a:p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Report results and limits</a:t>
            </a:r>
          </a:p>
        </p:txBody>
      </p:sp>
      <p:sp>
        <p:nvSpPr>
          <p:cNvPr id="7" name="text-vsrdnl-76-605">
            <a:extLst xmlns:a="http://schemas.openxmlformats.org/drawingml/2006/main">
              <a:ext uri="{FF2B5EF4-FFF2-40B4-BE49-F238E27FC236}">
                <a16:creationId xmlns:a16="http://schemas.microsoft.com/office/drawing/2014/main" id="{F170D0BD-6660-4571-A78D-F7094D55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Approval applies to the checked revision. Review the evidence again after code changes.</a:t>
            </a:r>
          </a:p>
        </p:txBody>
      </p:sp>
    </p:spTree>
    <p:extLst>
      <p:ext uri="{BB962C8B-B14F-4D97-AF65-F5344CB8AC3E}">
        <p14:creationId xmlns:p14="http://schemas.microsoft.com/office/powerpoint/2010/main" val="590809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2g7ya9-1160-657">
            <a:extLst xmlns:a="http://schemas.openxmlformats.org/drawingml/2006/main">
              <a:ext uri="{FF2B5EF4-FFF2-40B4-BE49-F238E27FC236}">
                <a16:creationId xmlns:a16="http://schemas.microsoft.com/office/drawing/2014/main" id="{D74F122F-F56E-4343-AA31-F1C7BC0F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05</a:t>
            </a:r>
          </a:p>
        </p:txBody>
      </p:sp>
      <p:sp>
        <p:nvSpPr>
          <p:cNvPr id="2" name="text-2g7ya9-72-58">
            <a:extLst xmlns:a="http://schemas.openxmlformats.org/drawingml/2006/main">
              <a:ext uri="{FF2B5EF4-FFF2-40B4-BE49-F238E27FC236}">
                <a16:creationId xmlns:a16="http://schemas.microsoft.com/office/drawing/2014/main" id="{BDD3F9C4-DB41-43EB-A2FD-890B4E58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Start in the repository</a:t>
            </a:r>
          </a:p>
        </p:txBody>
      </p:sp>
      <p:sp>
        <p:nvSpPr>
          <p:cNvPr id="3" name="text-2g7ya9-76-194">
            <a:extLst xmlns:a="http://schemas.openxmlformats.org/drawingml/2006/main">
              <a:ext uri="{FF2B5EF4-FFF2-40B4-BE49-F238E27FC236}">
                <a16:creationId xmlns:a16="http://schemas.microsoft.com/office/drawing/2014/main" id="{BC348672-AFA8-4F48-AEE7-A7B4B08F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9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README.md</a:t>
            </a:r>
          </a:p>
        </p:txBody>
      </p:sp>
      <p:sp>
        <p:nvSpPr>
          <p:cNvPr id="4" name="text-2g7ya9-76-248">
            <a:extLst xmlns:a="http://schemas.openxmlformats.org/drawingml/2006/main">
              <a:ext uri="{FF2B5EF4-FFF2-40B4-BE49-F238E27FC236}">
                <a16:creationId xmlns:a16="http://schemas.microsoft.com/office/drawing/2014/main" id="{ACB4F558-3180-43B7-BFDD-01B98715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Workshop start page and Step guide</a:t>
            </a:r>
          </a:p>
        </p:txBody>
      </p:sp>
      <p:sp>
        <p:nvSpPr>
          <p:cNvPr id="5" name="text-2g7ya9-76-326">
            <a:extLst xmlns:a="http://schemas.openxmlformats.org/drawingml/2006/main">
              <a:ext uri="{FF2B5EF4-FFF2-40B4-BE49-F238E27FC236}">
                <a16:creationId xmlns:a16="http://schemas.microsoft.com/office/drawing/2014/main" id="{AE180E7D-ADCA-49C3-ADBE-DCE79D5C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9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game-profile.md</a:t>
            </a:r>
          </a:p>
        </p:txBody>
      </p:sp>
      <p:sp>
        <p:nvSpPr>
          <p:cNvPr id="6" name="text-2g7ya9-76-380">
            <a:extLst xmlns:a="http://schemas.openxmlformats.org/drawingml/2006/main">
              <a:ext uri="{FF2B5EF4-FFF2-40B4-BE49-F238E27FC236}">
                <a16:creationId xmlns:a16="http://schemas.microsoft.com/office/drawing/2014/main" id="{58D6DB28-5F43-4899-A5FB-A8AEC155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Game rules and Project Binding</a:t>
            </a:r>
          </a:p>
        </p:txBody>
      </p:sp>
      <p:sp>
        <p:nvSpPr>
          <p:cNvPr id="7" name="text-2g7ya9-76-458">
            <a:extLst xmlns:a="http://schemas.openxmlformats.org/drawingml/2006/main">
              <a:ext uri="{FF2B5EF4-FFF2-40B4-BE49-F238E27FC236}">
                <a16:creationId xmlns:a16="http://schemas.microsoft.com/office/drawing/2014/main" id="{0CF6C272-2A9B-484B-8EFA-12C38F23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92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AGENTS.md + .agents/skills/</a:t>
            </a:r>
          </a:p>
        </p:txBody>
      </p:sp>
      <p:sp>
        <p:nvSpPr>
          <p:cNvPr id="8" name="text-2g7ya9-76-512">
            <a:extLst xmlns:a="http://schemas.openxmlformats.org/drawingml/2006/main">
              <a:ext uri="{FF2B5EF4-FFF2-40B4-BE49-F238E27FC236}">
                <a16:creationId xmlns:a16="http://schemas.microsoft.com/office/drawing/2014/main" id="{C4FAD066-CF0D-40B3-8309-3AB9908E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Agent rules and reusable Skills</a:t>
            </a:r>
          </a:p>
        </p:txBody>
      </p:sp>
      <p:sp>
        <p:nvSpPr>
          <p:cNvPr id="9" name="text-2g7ya9-76-605">
            <a:extLst xmlns:a="http://schemas.openxmlformats.org/drawingml/2006/main">
              <a:ext uri="{FF2B5EF4-FFF2-40B4-BE49-F238E27FC236}">
                <a16:creationId xmlns:a16="http://schemas.microsoft.com/office/drawing/2014/main" id="{594D4796-730E-41AD-A48F-35CC767D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The Skill Core is separate from the game. The project adds its own settings.</a:t>
            </a:r>
          </a:p>
        </p:txBody>
      </p:sp>
    </p:spTree>
    <p:extLst>
      <p:ext uri="{BB962C8B-B14F-4D97-AF65-F5344CB8AC3E}">
        <p14:creationId xmlns:p14="http://schemas.microsoft.com/office/powerpoint/2010/main" val="465598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2gd496-1160-657">
            <a:extLst xmlns:a="http://schemas.openxmlformats.org/drawingml/2006/main">
              <a:ext uri="{FF2B5EF4-FFF2-40B4-BE49-F238E27FC236}">
                <a16:creationId xmlns:a16="http://schemas.microsoft.com/office/drawing/2014/main" id="{C575D439-C6D4-47B6-85E1-DB11E9A2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06</a:t>
            </a:r>
          </a:p>
        </p:txBody>
      </p:sp>
      <p:sp>
        <p:nvSpPr>
          <p:cNvPr id="2" name="text-2gd496-72-58">
            <a:extLst xmlns:a="http://schemas.openxmlformats.org/drawingml/2006/main">
              <a:ext uri="{FF2B5EF4-FFF2-40B4-BE49-F238E27FC236}">
                <a16:creationId xmlns:a16="http://schemas.microsoft.com/office/drawing/2014/main" id="{FB93568D-F673-4341-9754-156D9D20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Six ADLC Skills</a:t>
            </a:r>
          </a:p>
        </p:txBody>
      </p:sp>
      <p:sp>
        <p:nvSpPr>
          <p:cNvPr id="3" name="text-2gd496-76-188">
            <a:extLst xmlns:a="http://schemas.openxmlformats.org/drawingml/2006/main">
              <a:ext uri="{FF2B5EF4-FFF2-40B4-BE49-F238E27FC236}">
                <a16:creationId xmlns:a16="http://schemas.microsoft.com/office/drawing/2014/main" id="{302E458F-8EA9-4B2A-A477-FEDF22DF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gfit-adlc-intent</a:t>
            </a:r>
          </a:p>
        </p:txBody>
      </p:sp>
      <p:sp>
        <p:nvSpPr>
          <p:cNvPr id="4" name="text-2gd496-76-235">
            <a:extLst xmlns:a="http://schemas.openxmlformats.org/drawingml/2006/main">
              <a:ext uri="{FF2B5EF4-FFF2-40B4-BE49-F238E27FC236}">
                <a16:creationId xmlns:a16="http://schemas.microsoft.com/office/drawing/2014/main" id="{229848C7-F190-4C3A-AB00-3971C63E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Hypothesis and signal</a:t>
            </a:r>
          </a:p>
        </p:txBody>
      </p:sp>
      <p:sp>
        <p:nvSpPr>
          <p:cNvPr id="5" name="text-2gd496-76-314">
            <a:extLst xmlns:a="http://schemas.openxmlformats.org/drawingml/2006/main">
              <a:ext uri="{FF2B5EF4-FFF2-40B4-BE49-F238E27FC236}">
                <a16:creationId xmlns:a16="http://schemas.microsoft.com/office/drawing/2014/main" id="{1869C181-6CA2-4E4D-B1DA-B57B8E3E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gfit-adlc-generate</a:t>
            </a:r>
          </a:p>
        </p:txBody>
      </p:sp>
      <p:sp>
        <p:nvSpPr>
          <p:cNvPr id="6" name="text-2gd496-76-361">
            <a:extLst xmlns:a="http://schemas.openxmlformats.org/drawingml/2006/main">
              <a:ext uri="{FF2B5EF4-FFF2-40B4-BE49-F238E27FC236}">
                <a16:creationId xmlns:a16="http://schemas.microsoft.com/office/drawing/2014/main" id="{9D9162B5-B204-489E-A215-89A54F60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Spec, plan, implementation</a:t>
            </a:r>
          </a:p>
        </p:txBody>
      </p:sp>
      <p:sp>
        <p:nvSpPr>
          <p:cNvPr id="7" name="text-2gd496-76-440">
            <a:extLst xmlns:a="http://schemas.openxmlformats.org/drawingml/2006/main">
              <a:ext uri="{FF2B5EF4-FFF2-40B4-BE49-F238E27FC236}">
                <a16:creationId xmlns:a16="http://schemas.microsoft.com/office/drawing/2014/main" id="{E7336556-73A3-4924-BB98-A3519484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gfit-adlc-validate</a:t>
            </a:r>
          </a:p>
        </p:txBody>
      </p:sp>
      <p:sp>
        <p:nvSpPr>
          <p:cNvPr id="8" name="text-2gd496-76-487">
            <a:extLst xmlns:a="http://schemas.openxmlformats.org/drawingml/2006/main">
              <a:ext uri="{FF2B5EF4-FFF2-40B4-BE49-F238E27FC236}">
                <a16:creationId xmlns:a16="http://schemas.microsoft.com/office/drawing/2014/main" id="{B857B147-2E3E-4A8E-BDFA-158D9083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386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Acceptance and evidence</a:t>
            </a:r>
          </a:p>
        </p:txBody>
      </p:sp>
      <p:sp>
        <p:nvSpPr>
          <p:cNvPr id="9" name="text-2gd496-680-188">
            <a:extLst xmlns:a="http://schemas.openxmlformats.org/drawingml/2006/main">
              <a:ext uri="{FF2B5EF4-FFF2-40B4-BE49-F238E27FC236}">
                <a16:creationId xmlns:a16="http://schemas.microsoft.com/office/drawing/2014/main" id="{AEEA5504-67EF-428B-AF11-32BB713C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7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gfit-adlc-govern</a:t>
            </a:r>
          </a:p>
        </p:txBody>
      </p:sp>
      <p:sp>
        <p:nvSpPr>
          <p:cNvPr id="10" name="text-2gd496-680-235">
            <a:extLst xmlns:a="http://schemas.openxmlformats.org/drawingml/2006/main">
              <a:ext uri="{FF2B5EF4-FFF2-40B4-BE49-F238E27FC236}">
                <a16:creationId xmlns:a16="http://schemas.microsoft.com/office/drawing/2014/main" id="{AB5E6E6C-D3E8-4179-860A-119EF9C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 human decides</a:t>
            </a:r>
          </a:p>
        </p:txBody>
      </p:sp>
      <p:sp>
        <p:nvSpPr>
          <p:cNvPr id="11" name="text-2gd496-680-314">
            <a:extLst xmlns:a="http://schemas.openxmlformats.org/drawingml/2006/main">
              <a:ext uri="{FF2B5EF4-FFF2-40B4-BE49-F238E27FC236}">
                <a16:creationId xmlns:a16="http://schemas.microsoft.com/office/drawing/2014/main" id="{8837B7E5-425D-4268-9F11-63289C74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908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gfit-adlc-deploy</a:t>
            </a:r>
          </a:p>
        </p:txBody>
      </p:sp>
      <p:sp>
        <p:nvSpPr>
          <p:cNvPr id="12" name="text-2gd496-680-361">
            <a:extLst xmlns:a="http://schemas.openxmlformats.org/drawingml/2006/main">
              <a:ext uri="{FF2B5EF4-FFF2-40B4-BE49-F238E27FC236}">
                <a16:creationId xmlns:a16="http://schemas.microsoft.com/office/drawing/2014/main" id="{43310533-FAEB-4FDF-904C-0EE13FF6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Release to the project target</a:t>
            </a:r>
          </a:p>
        </p:txBody>
      </p:sp>
      <p:sp>
        <p:nvSpPr>
          <p:cNvPr id="13" name="text-2gd496-680-440">
            <a:extLst xmlns:a="http://schemas.openxmlformats.org/drawingml/2006/main">
              <a:ext uri="{FF2B5EF4-FFF2-40B4-BE49-F238E27FC236}">
                <a16:creationId xmlns:a16="http://schemas.microsoft.com/office/drawing/2014/main" id="{00E58243-BD24-447C-9C56-DCBF414B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18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gfit-adlc-observe</a:t>
            </a:r>
          </a:p>
        </p:txBody>
      </p:sp>
      <p:sp>
        <p:nvSpPr>
          <p:cNvPr id="14" name="text-2gd496-680-487">
            <a:extLst xmlns:a="http://schemas.openxmlformats.org/drawingml/2006/main">
              <a:ext uri="{FF2B5EF4-FFF2-40B4-BE49-F238E27FC236}">
                <a16:creationId xmlns:a16="http://schemas.microsoft.com/office/drawing/2014/main" id="{6948900F-AFE6-4BB3-A715-00F47F24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386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17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Study the outcome signal</a:t>
            </a:r>
          </a:p>
        </p:txBody>
      </p:sp>
      <p:sp>
        <p:nvSpPr>
          <p:cNvPr id="15" name="text-2gd496-76-605">
            <a:extLst xmlns:a="http://schemas.openxmlformats.org/drawingml/2006/main">
              <a:ext uri="{FF2B5EF4-FFF2-40B4-BE49-F238E27FC236}">
                <a16:creationId xmlns:a16="http://schemas.microsoft.com/office/drawing/2014/main" id="{54038BD7-E639-465A-9535-7929852D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Each Skill works alone. Together, they form an ADLC pack for any domain.</a:t>
            </a:r>
          </a:p>
        </p:txBody>
      </p:sp>
    </p:spTree>
    <p:extLst>
      <p:ext uri="{BB962C8B-B14F-4D97-AF65-F5344CB8AC3E}">
        <p14:creationId xmlns:p14="http://schemas.microsoft.com/office/powerpoint/2010/main" val="1904356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akfa8-1160-657">
            <a:extLst xmlns:a="http://schemas.openxmlformats.org/drawingml/2006/main">
              <a:ext uri="{FF2B5EF4-FFF2-40B4-BE49-F238E27FC236}">
                <a16:creationId xmlns:a16="http://schemas.microsoft.com/office/drawing/2014/main" id="{9B0BA553-D5C0-4747-AB53-0401945D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07</a:t>
            </a:r>
          </a:p>
        </p:txBody>
      </p:sp>
      <p:sp>
        <p:nvSpPr>
          <p:cNvPr id="2" name="text-4akfa8-72-58">
            <a:extLst xmlns:a="http://schemas.openxmlformats.org/drawingml/2006/main">
              <a:ext uri="{FF2B5EF4-FFF2-40B4-BE49-F238E27FC236}">
                <a16:creationId xmlns:a16="http://schemas.microsoft.com/office/drawing/2014/main" id="{0F04AC16-9277-4C84-AEEA-3BA55DC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Intent 1: Number guessing game</a:t>
            </a:r>
          </a:p>
        </p:txBody>
      </p:sp>
      <p:sp>
        <p:nvSpPr>
          <p:cNvPr id="3" name="text-4akfa8-76-180">
            <a:extLst xmlns:a="http://schemas.openxmlformats.org/drawingml/2006/main">
              <a:ext uri="{FF2B5EF4-FFF2-40B4-BE49-F238E27FC236}">
                <a16:creationId xmlns:a16="http://schemas.microsoft.com/office/drawing/2014/main" id="{84147947-8103-401D-91E7-86F2D0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75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75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1–100</a:t>
            </a:r>
          </a:p>
        </p:txBody>
      </p:sp>
      <p:sp>
        <p:nvSpPr>
          <p:cNvPr id="4" name="text-4akfa8-80-338">
            <a:extLst xmlns:a="http://schemas.openxmlformats.org/drawingml/2006/main">
              <a:ext uri="{FF2B5EF4-FFF2-40B4-BE49-F238E27FC236}">
                <a16:creationId xmlns:a16="http://schemas.microsoft.com/office/drawing/2014/main" id="{456F27FA-EEA2-4A6B-9829-DBD498F7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Number range</a:t>
            </a:r>
          </a:p>
        </p:txBody>
      </p:sp>
      <p:sp>
        <p:nvSpPr>
          <p:cNvPr id="5" name="text-4akfa8-746-180">
            <a:extLst xmlns:a="http://schemas.openxmlformats.org/drawingml/2006/main">
              <a:ext uri="{FF2B5EF4-FFF2-40B4-BE49-F238E27FC236}">
                <a16:creationId xmlns:a16="http://schemas.microsoft.com/office/drawing/2014/main" id="{104A763C-90DD-4A68-903B-96B7E0A0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14500"/>
            <a:ext cx="361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4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84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7</a:t>
            </a:r>
          </a:p>
        </p:txBody>
      </p:sp>
      <p:sp>
        <p:nvSpPr>
          <p:cNvPr id="6" name="text-4akfa8-746-338">
            <a:extLst xmlns:a="http://schemas.openxmlformats.org/drawingml/2006/main">
              <a:ext uri="{FF2B5EF4-FFF2-40B4-BE49-F238E27FC236}">
                <a16:creationId xmlns:a16="http://schemas.microsoft.com/office/drawing/2014/main" id="{F359035A-FDC9-4EFD-B018-EF0BA4D7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Guesses</a:t>
            </a:r>
          </a:p>
        </p:txBody>
      </p:sp>
      <p:sp>
        <p:nvSpPr>
          <p:cNvPr id="7" name="text-4akfa8-76-466">
            <a:extLst xmlns:a="http://schemas.openxmlformats.org/drawingml/2006/main">
              <a:ext uri="{FF2B5EF4-FFF2-40B4-BE49-F238E27FC236}">
                <a16:creationId xmlns:a16="http://schemas.microsoft.com/office/drawing/2014/main" id="{2418F78C-5140-4432-B2D0-1A69ED9D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475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The game says “Too low” or “Too high” until the player wins or loses</a:t>
            </a:r>
          </a:p>
        </p:txBody>
      </p:sp>
      <p:sp>
        <p:nvSpPr>
          <p:cNvPr id="8" name="text-4akfa8-76-605">
            <a:extLst xmlns:a="http://schemas.openxmlformats.org/drawingml/2006/main">
              <a:ext uri="{FF2B5EF4-FFF2-40B4-BE49-F238E27FC236}">
                <a16:creationId xmlns:a16="http://schemas.microsoft.com/office/drawing/2014/main" id="{9432F90D-90A7-47B0-A372-FDE11C32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v1 has one full round. It has no score, difficulty level, or login.</a:t>
            </a:r>
          </a:p>
        </p:txBody>
      </p:sp>
    </p:spTree>
    <p:extLst>
      <p:ext uri="{BB962C8B-B14F-4D97-AF65-F5344CB8AC3E}">
        <p14:creationId xmlns:p14="http://schemas.microsoft.com/office/powerpoint/2010/main" val="16336716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h7o5ls-1160-657">
            <a:extLst xmlns:a="http://schemas.openxmlformats.org/drawingml/2006/main">
              <a:ext uri="{FF2B5EF4-FFF2-40B4-BE49-F238E27FC236}">
                <a16:creationId xmlns:a16="http://schemas.microsoft.com/office/drawing/2014/main" id="{8B0EE640-0DFA-45CC-A229-026944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08</a:t>
            </a:r>
          </a:p>
        </p:txBody>
      </p:sp>
      <p:sp>
        <p:nvSpPr>
          <p:cNvPr id="2" name="text-h7o5ls-72-58">
            <a:extLst xmlns:a="http://schemas.openxmlformats.org/drawingml/2006/main">
              <a:ext uri="{FF2B5EF4-FFF2-40B4-BE49-F238E27FC236}">
                <a16:creationId xmlns:a16="http://schemas.microsoft.com/office/drawing/2014/main" id="{6A82D0EA-39AE-4136-B5F7-F6207280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Intent 1: Pilot measures</a:t>
            </a:r>
          </a:p>
        </p:txBody>
      </p:sp>
      <p:sp>
        <p:nvSpPr>
          <p:cNvPr id="3" name="text-h7o5ls-76-181">
            <a:extLst xmlns:a="http://schemas.openxmlformats.org/drawingml/2006/main">
              <a:ext uri="{FF2B5EF4-FFF2-40B4-BE49-F238E27FC236}">
                <a16:creationId xmlns:a16="http://schemas.microsoft.com/office/drawing/2014/main" id="{FA0AAE2C-CC68-4946-A106-9E4AF6FF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609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4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84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4 / 5</a:t>
            </a:r>
          </a:p>
        </p:txBody>
      </p:sp>
      <p:sp>
        <p:nvSpPr>
          <p:cNvPr id="4" name="text-h7o5ls-750-207">
            <a:extLst xmlns:a="http://schemas.openxmlformats.org/drawingml/2006/main">
              <a:ext uri="{FF2B5EF4-FFF2-40B4-BE49-F238E27FC236}">
                <a16:creationId xmlns:a16="http://schemas.microsoft.com/office/drawing/2014/main" id="{5C70BF08-E07D-4C2F-A9C7-C35250A1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71675"/>
            <a:ext cx="4333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sessions finish round one</a:t>
            </a:r>
          </a:p>
          <a:p xmlns:a="http://schemas.openxmlformats.org/drawingml/2006/main">
            <a:pPr>
              <a:buNone/>
              <a:defRPr sz="27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within five minutes</a:t>
            </a:r>
          </a:p>
        </p:txBody>
      </p:sp>
      <p:sp>
        <p:nvSpPr>
          <p:cNvPr id="5" name="text-h7o5ls-76-410">
            <a:extLst xmlns:a="http://schemas.openxmlformats.org/drawingml/2006/main">
              <a:ext uri="{FF2B5EF4-FFF2-40B4-BE49-F238E27FC236}">
                <a16:creationId xmlns:a16="http://schemas.microsoft.com/office/drawing/2014/main" id="{75229D4D-F6F2-40C4-A875-3C17CDA6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25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Hypothesis: A new player can start and finish alone</a:t>
            </a:r>
          </a:p>
        </p:txBody>
      </p:sp>
      <p:sp>
        <p:nvSpPr>
          <p:cNvPr id="6" name="text-h7o5ls-76-481">
            <a:extLst xmlns:a="http://schemas.openxmlformats.org/drawingml/2006/main">
              <a:ext uri="{FF2B5EF4-FFF2-40B4-BE49-F238E27FC236}">
                <a16:creationId xmlns:a16="http://schemas.microsoft.com/office/drawing/2014/main" id="{CF605785-0D3D-484C-8865-B6EB6242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815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Guardrail: No error blocks the game</a:t>
            </a:r>
          </a:p>
        </p:txBody>
      </p:sp>
      <p:sp>
        <p:nvSpPr>
          <p:cNvPr id="7" name="text-h7o5ls-76-605">
            <a:extLst xmlns:a="http://schemas.openxmlformats.org/drawingml/2006/main">
              <a:ext uri="{FF2B5EF4-FFF2-40B4-BE49-F238E27FC236}">
                <a16:creationId xmlns:a16="http://schemas.microsoft.com/office/drawing/2014/main" id="{10B68DA0-6C43-41C4-83B7-A8BDF843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This is a pilot target. Real play results still need to be measured.</a:t>
            </a:r>
          </a:p>
        </p:txBody>
      </p:sp>
    </p:spTree>
    <p:extLst>
      <p:ext uri="{BB962C8B-B14F-4D97-AF65-F5344CB8AC3E}">
        <p14:creationId xmlns:p14="http://schemas.microsoft.com/office/powerpoint/2010/main" val="14765929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r4vqt2-1160-657">
            <a:extLst xmlns:a="http://schemas.openxmlformats.org/drawingml/2006/main">
              <a:ext uri="{FF2B5EF4-FFF2-40B4-BE49-F238E27FC236}">
                <a16:creationId xmlns:a16="http://schemas.microsoft.com/office/drawing/2014/main" id="{57A32162-0E7D-4ED7-86C6-B8207CFE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09</a:t>
            </a:r>
          </a:p>
        </p:txBody>
      </p:sp>
      <p:sp>
        <p:nvSpPr>
          <p:cNvPr id="2" name="text-r4vqt2-72-58">
            <a:extLst xmlns:a="http://schemas.openxmlformats.org/drawingml/2006/main">
              <a:ext uri="{FF2B5EF4-FFF2-40B4-BE49-F238E27FC236}">
                <a16:creationId xmlns:a16="http://schemas.microsoft.com/office/drawing/2014/main" id="{A1E7349A-ACF7-45DA-894F-21D5CA6F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ADLC evidence chain</a:t>
            </a:r>
          </a:p>
        </p:txBody>
      </p:sp>
      <p:sp>
        <p:nvSpPr>
          <p:cNvPr id="3" name="text-r4vqt2-76-184">
            <a:extLst xmlns:a="http://schemas.openxmlformats.org/drawingml/2006/main">
              <a:ext uri="{FF2B5EF4-FFF2-40B4-BE49-F238E27FC236}">
                <a16:creationId xmlns:a16="http://schemas.microsoft.com/office/drawing/2014/main" id="{99C45E1F-1B33-4164-B65A-33C812C1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intent.md</a:t>
            </a:r>
          </a:p>
        </p:txBody>
      </p:sp>
      <p:sp>
        <p:nvSpPr>
          <p:cNvPr id="4" name="text-r4vqt2-744-184">
            <a:extLst xmlns:a="http://schemas.openxmlformats.org/drawingml/2006/main">
              <a:ext uri="{FF2B5EF4-FFF2-40B4-BE49-F238E27FC236}">
                <a16:creationId xmlns:a16="http://schemas.microsoft.com/office/drawing/2014/main" id="{E7056D3F-06F8-4A55-93CB-F897F1BD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52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What we want to learn</a:t>
            </a:r>
          </a:p>
        </p:txBody>
      </p:sp>
      <p:sp>
        <p:nvSpPr>
          <p:cNvPr id="5" name="text-r4vqt2-76-262">
            <a:extLst xmlns:a="http://schemas.openxmlformats.org/drawingml/2006/main">
              <a:ext uri="{FF2B5EF4-FFF2-40B4-BE49-F238E27FC236}">
                <a16:creationId xmlns:a16="http://schemas.microsoft.com/office/drawing/2014/main" id="{2185229B-02CD-40CC-91E2-4C6FA64B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spec.md + plan.md</a:t>
            </a:r>
          </a:p>
        </p:txBody>
      </p:sp>
      <p:sp>
        <p:nvSpPr>
          <p:cNvPr id="6" name="text-r4vqt2-744-262">
            <a:extLst xmlns:a="http://schemas.openxmlformats.org/drawingml/2006/main">
              <a:ext uri="{FF2B5EF4-FFF2-40B4-BE49-F238E27FC236}">
                <a16:creationId xmlns:a16="http://schemas.microsoft.com/office/drawing/2014/main" id="{3B03A248-784C-496C-869C-A8555321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955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Behavior and work plan</a:t>
            </a:r>
          </a:p>
        </p:txBody>
      </p:sp>
      <p:sp>
        <p:nvSpPr>
          <p:cNvPr id="7" name="text-r4vqt2-76-340">
            <a:extLst xmlns:a="http://schemas.openxmlformats.org/drawingml/2006/main">
              <a:ext uri="{FF2B5EF4-FFF2-40B4-BE49-F238E27FC236}">
                <a16:creationId xmlns:a16="http://schemas.microsoft.com/office/drawing/2014/main" id="{A121E841-9159-48F6-9FE3-7A1E514C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validation.md</a:t>
            </a:r>
          </a:p>
        </p:txBody>
      </p:sp>
      <p:sp>
        <p:nvSpPr>
          <p:cNvPr id="8" name="text-r4vqt2-744-340">
            <a:extLst xmlns:a="http://schemas.openxmlformats.org/drawingml/2006/main">
              <a:ext uri="{FF2B5EF4-FFF2-40B4-BE49-F238E27FC236}">
                <a16:creationId xmlns:a16="http://schemas.microsoft.com/office/drawing/2014/main" id="{A3B72DCD-FC9B-44FB-93CE-DB5CAB75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385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Results from real checks</a:t>
            </a:r>
          </a:p>
        </p:txBody>
      </p:sp>
      <p:sp>
        <p:nvSpPr>
          <p:cNvPr id="9" name="text-r4vqt2-76-418">
            <a:extLst xmlns:a="http://schemas.openxmlformats.org/drawingml/2006/main">
              <a:ext uri="{FF2B5EF4-FFF2-40B4-BE49-F238E27FC236}">
                <a16:creationId xmlns:a16="http://schemas.microsoft.com/office/drawing/2014/main" id="{6AAF9643-D215-4C01-A615-7CEE579A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decision.md + release.md</a:t>
            </a:r>
          </a:p>
        </p:txBody>
      </p:sp>
      <p:sp>
        <p:nvSpPr>
          <p:cNvPr id="10" name="text-r4vqt2-744-418">
            <a:extLst xmlns:a="http://schemas.openxmlformats.org/drawingml/2006/main">
              <a:ext uri="{FF2B5EF4-FFF2-40B4-BE49-F238E27FC236}">
                <a16:creationId xmlns:a16="http://schemas.microsoft.com/office/drawing/2014/main" id="{3705125E-E13C-4F29-A5DE-832FEF26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814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Decision and test revision</a:t>
            </a:r>
          </a:p>
        </p:txBody>
      </p:sp>
      <p:sp>
        <p:nvSpPr>
          <p:cNvPr id="11" name="text-r4vqt2-76-496">
            <a:extLst xmlns:a="http://schemas.openxmlformats.org/drawingml/2006/main">
              <a:ext uri="{FF2B5EF4-FFF2-40B4-BE49-F238E27FC236}">
                <a16:creationId xmlns:a16="http://schemas.microsoft.com/office/drawing/2014/main" id="{E2565301-9445-4065-A99B-070612D5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observation.md + resolution.md</a:t>
            </a:r>
          </a:p>
        </p:txBody>
      </p:sp>
      <p:sp>
        <p:nvSpPr>
          <p:cNvPr id="12" name="text-r4vqt2-744-496">
            <a:extLst xmlns:a="http://schemas.openxmlformats.org/drawingml/2006/main">
              <a:ext uri="{FF2B5EF4-FFF2-40B4-BE49-F238E27FC236}">
                <a16:creationId xmlns:a16="http://schemas.microsoft.com/office/drawing/2014/main" id="{17851AFB-E902-4E00-A777-1D14883D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244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Signal and decision after Observe</a:t>
            </a:r>
          </a:p>
        </p:txBody>
      </p:sp>
      <p:sp>
        <p:nvSpPr>
          <p:cNvPr id="13" name="text-r4vqt2-76-605">
            <a:extLst xmlns:a="http://schemas.openxmlformats.org/drawingml/2006/main">
              <a:ext uri="{FF2B5EF4-FFF2-40B4-BE49-F238E27FC236}">
                <a16:creationId xmlns:a16="http://schemas.microsoft.com/office/drawing/2014/main" id="{CC90F95E-DB51-4888-BFC7-7ED08BFE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Every file links to the Intent and the checked revision</a:t>
            </a:r>
          </a:p>
        </p:txBody>
      </p:sp>
    </p:spTree>
    <p:extLst>
      <p:ext uri="{BB962C8B-B14F-4D97-AF65-F5344CB8AC3E}">
        <p14:creationId xmlns:p14="http://schemas.microsoft.com/office/powerpoint/2010/main" val="6100268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zrn34t-1160-657">
            <a:extLst xmlns:a="http://schemas.openxmlformats.org/drawingml/2006/main">
              <a:ext uri="{FF2B5EF4-FFF2-40B4-BE49-F238E27FC236}">
                <a16:creationId xmlns:a16="http://schemas.microsoft.com/office/drawing/2014/main" id="{6D9E7618-AB74-4070-BB59-5DDA208D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10</a:t>
            </a:r>
          </a:p>
        </p:txBody>
      </p:sp>
      <p:sp>
        <p:nvSpPr>
          <p:cNvPr id="2" name="text-zrn34t-72-58">
            <a:extLst xmlns:a="http://schemas.openxmlformats.org/drawingml/2006/main">
              <a:ext uri="{FF2B5EF4-FFF2-40B4-BE49-F238E27FC236}">
                <a16:creationId xmlns:a16="http://schemas.microsoft.com/office/drawing/2014/main" id="{C47CB2BF-58EE-4E17-9D9D-1B48CD75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Generate ↔ Validate from documents to code</a:t>
            </a:r>
          </a:p>
        </p:txBody>
      </p:sp>
      <p:sp>
        <p:nvSpPr>
          <p:cNvPr id="3" name="text-zrn34t-76-180">
            <a:extLst xmlns:a="http://schemas.openxmlformats.org/drawingml/2006/main">
              <a:ext uri="{FF2B5EF4-FFF2-40B4-BE49-F238E27FC236}">
                <a16:creationId xmlns:a16="http://schemas.microsoft.com/office/drawing/2014/main" id="{FA5182D7-739B-4BA5-966C-123B7F81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8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Check case</a:t>
            </a:r>
          </a:p>
        </p:txBody>
      </p:sp>
      <p:sp>
        <p:nvSpPr>
          <p:cNvPr id="4" name="text-zrn34t-76-244">
            <a:extLst xmlns:a="http://schemas.openxmlformats.org/drawingml/2006/main">
              <a:ext uri="{FF2B5EF4-FFF2-40B4-BE49-F238E27FC236}">
                <a16:creationId xmlns:a16="http://schemas.microsoft.com/office/drawing/2014/main" id="{9584E8E5-3282-49C1-BB22-96E2B96F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6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Invalid input does not use a guess</a:t>
            </a:r>
          </a:p>
        </p:txBody>
      </p:sp>
      <p:sp>
        <p:nvSpPr>
          <p:cNvPr id="5" name="text-zrn34t-76-376">
            <a:extLst xmlns:a="http://schemas.openxmlformats.org/drawingml/2006/main">
              <a:ext uri="{FF2B5EF4-FFF2-40B4-BE49-F238E27FC236}">
                <a16:creationId xmlns:a16="http://schemas.microsoft.com/office/drawing/2014/main" id="{DBB1D4A9-F8EF-45EC-822A-B35BF319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30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Expected: 7 left</a:t>
            </a:r>
          </a:p>
        </p:txBody>
      </p:sp>
      <p:sp>
        <p:nvSpPr>
          <p:cNvPr id="6" name="text-zrn34t-686-376">
            <a:extLst xmlns:a="http://schemas.openxmlformats.org/drawingml/2006/main">
              <a:ext uri="{FF2B5EF4-FFF2-40B4-BE49-F238E27FC236}">
                <a16:creationId xmlns:a16="http://schemas.microsoft.com/office/drawing/2014/main" id="{C4A01C3F-5683-410C-8E4C-5B42933A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814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3000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If only 6 remain</a:t>
            </a:r>
          </a:p>
        </p:txBody>
      </p:sp>
      <p:sp>
        <p:nvSpPr>
          <p:cNvPr id="7" name="text-zrn34t-76-463">
            <a:extLst xmlns:a="http://schemas.openxmlformats.org/drawingml/2006/main">
              <a:ext uri="{FF2B5EF4-FFF2-40B4-BE49-F238E27FC236}">
                <a16:creationId xmlns:a16="http://schemas.microsoft.com/office/drawing/2014/main" id="{D9F777CB-A955-4DE0-B944-0CB784C6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The test must prove this behavior</a:t>
            </a:r>
          </a:p>
        </p:txBody>
      </p:sp>
      <p:sp>
        <p:nvSpPr>
          <p:cNvPr id="8" name="text-zrn34t-686-463">
            <a:extLst xmlns:a="http://schemas.openxmlformats.org/drawingml/2006/main">
              <a:ext uri="{FF2B5EF4-FFF2-40B4-BE49-F238E27FC236}">
                <a16:creationId xmlns:a16="http://schemas.microsoft.com/office/drawing/2014/main" id="{8319F501-59E0-4C7B-9B1F-7AED7E91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1007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Find the cause, fix it, and check again</a:t>
            </a:r>
          </a:p>
        </p:txBody>
      </p:sp>
      <p:sp>
        <p:nvSpPr>
          <p:cNvPr id="9" name="text-zrn34t-76-605">
            <a:extLst xmlns:a="http://schemas.openxmlformats.org/drawingml/2006/main">
              <a:ext uri="{FF2B5EF4-FFF2-40B4-BE49-F238E27FC236}">
                <a16:creationId xmlns:a16="http://schemas.microsoft.com/office/drawing/2014/main" id="{2E8D326F-6F32-4EA6-BD30-B6ED0DEF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Real evidence: command, result, and related acceptance ID</a:t>
            </a:r>
          </a:p>
        </p:txBody>
      </p:sp>
    </p:spTree>
    <p:extLst>
      <p:ext uri="{BB962C8B-B14F-4D97-AF65-F5344CB8AC3E}">
        <p14:creationId xmlns:p14="http://schemas.microsoft.com/office/powerpoint/2010/main" val="16436974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cchb7r-1160-657">
            <a:extLst xmlns:a="http://schemas.openxmlformats.org/drawingml/2006/main">
              <a:ext uri="{FF2B5EF4-FFF2-40B4-BE49-F238E27FC236}">
                <a16:creationId xmlns:a16="http://schemas.microsoft.com/office/drawing/2014/main" id="{6D42CC90-EEFF-49AA-9366-7B369F58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11</a:t>
            </a:r>
          </a:p>
        </p:txBody>
      </p:sp>
      <p:sp>
        <p:nvSpPr>
          <p:cNvPr id="2" name="text-cchb7r-72-58">
            <a:extLst xmlns:a="http://schemas.openxmlformats.org/drawingml/2006/main">
              <a:ext uri="{FF2B5EF4-FFF2-40B4-BE49-F238E27FC236}">
                <a16:creationId xmlns:a16="http://schemas.microsoft.com/office/drawing/2014/main" id="{E66E5BBB-3B8E-4625-B638-712B7483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Govern decisions</a:t>
            </a:r>
          </a:p>
        </p:txBody>
      </p:sp>
      <p:sp>
        <p:nvSpPr>
          <p:cNvPr id="3" name="text-cchb7r-76-195">
            <a:extLst xmlns:a="http://schemas.openxmlformats.org/drawingml/2006/main">
              <a:ext uri="{FF2B5EF4-FFF2-40B4-BE49-F238E27FC236}">
                <a16:creationId xmlns:a16="http://schemas.microsoft.com/office/drawing/2014/main" id="{8C2AFFDE-625C-4931-8829-D528326F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33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Approve</a:t>
            </a:r>
          </a:p>
        </p:txBody>
      </p:sp>
      <p:sp>
        <p:nvSpPr>
          <p:cNvPr id="4" name="text-cchb7r-455-201">
            <a:extLst xmlns:a="http://schemas.openxmlformats.org/drawingml/2006/main">
              <a:ext uri="{FF2B5EF4-FFF2-40B4-BE49-F238E27FC236}">
                <a16:creationId xmlns:a16="http://schemas.microsoft.com/office/drawing/2014/main" id="{CC89D0E9-A343-4B7E-B541-62D25866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914525"/>
            <a:ext cx="700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The evidence is complete for this test</a:t>
            </a:r>
          </a:p>
        </p:txBody>
      </p:sp>
      <p:sp>
        <p:nvSpPr>
          <p:cNvPr id="5" name="text-cchb7r-76-321">
            <a:extLst xmlns:a="http://schemas.openxmlformats.org/drawingml/2006/main">
              <a:ext uri="{FF2B5EF4-FFF2-40B4-BE49-F238E27FC236}">
                <a16:creationId xmlns:a16="http://schemas.microsoft.com/office/drawing/2014/main" id="{7B7E1604-7739-4F08-B29F-C84B67DD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3300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Revise</a:t>
            </a:r>
          </a:p>
        </p:txBody>
      </p:sp>
      <p:sp>
        <p:nvSpPr>
          <p:cNvPr id="6" name="text-cchb7r-455-327">
            <a:extLst xmlns:a="http://schemas.openxmlformats.org/drawingml/2006/main">
              <a:ext uri="{FF2B5EF4-FFF2-40B4-BE49-F238E27FC236}">
                <a16:creationId xmlns:a16="http://schemas.microsoft.com/office/drawing/2014/main" id="{1C022569-5139-42EC-AA1B-12C2A3CD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14675"/>
            <a:ext cx="700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More work or checks are needed</a:t>
            </a:r>
          </a:p>
        </p:txBody>
      </p:sp>
      <p:sp>
        <p:nvSpPr>
          <p:cNvPr id="7" name="text-cchb7r-76-447">
            <a:extLst xmlns:a="http://schemas.openxmlformats.org/drawingml/2006/main">
              <a:ext uri="{FF2B5EF4-FFF2-40B4-BE49-F238E27FC236}">
                <a16:creationId xmlns:a16="http://schemas.microsoft.com/office/drawing/2014/main" id="{18B92762-8B06-45AB-A35F-45A3D2BE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3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Stop</a:t>
            </a:r>
          </a:p>
        </p:txBody>
      </p:sp>
      <p:sp>
        <p:nvSpPr>
          <p:cNvPr id="8" name="text-cchb7r-455-453">
            <a:extLst xmlns:a="http://schemas.openxmlformats.org/drawingml/2006/main">
              <a:ext uri="{FF2B5EF4-FFF2-40B4-BE49-F238E27FC236}">
                <a16:creationId xmlns:a16="http://schemas.microsoft.com/office/drawing/2014/main" id="{A985E18D-5E03-4ACF-9597-9E6B7D30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14825"/>
            <a:ext cx="700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End this path and record the reason</a:t>
            </a:r>
          </a:p>
        </p:txBody>
      </p:sp>
      <p:sp>
        <p:nvSpPr>
          <p:cNvPr id="9" name="text-cchb7r-76-605">
            <a:extLst xmlns:a="http://schemas.openxmlformats.org/drawingml/2006/main">
              <a:ext uri="{FF2B5EF4-FFF2-40B4-BE49-F238E27FC236}">
                <a16:creationId xmlns:a16="http://schemas.microsoft.com/office/drawing/2014/main" id="{76FF8016-D35F-495E-BF30-17C4AF0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The Agent may advise. A human decides and records the reason.</a:t>
            </a:r>
          </a:p>
        </p:txBody>
      </p:sp>
    </p:spTree>
    <p:extLst>
      <p:ext uri="{BB962C8B-B14F-4D97-AF65-F5344CB8AC3E}">
        <p14:creationId xmlns:p14="http://schemas.microsoft.com/office/powerpoint/2010/main" val="6128242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c097wb-1160-657">
            <a:extLst xmlns:a="http://schemas.openxmlformats.org/drawingml/2006/main">
              <a:ext uri="{FF2B5EF4-FFF2-40B4-BE49-F238E27FC236}">
                <a16:creationId xmlns:a16="http://schemas.microsoft.com/office/drawing/2014/main" id="{5641AE5A-A61D-477D-A8A8-ED3809D0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12</a:t>
            </a:r>
          </a:p>
        </p:txBody>
      </p:sp>
      <p:sp>
        <p:nvSpPr>
          <p:cNvPr id="2" name="text-c097wb-72-58">
            <a:extLst xmlns:a="http://schemas.openxmlformats.org/drawingml/2006/main">
              <a:ext uri="{FF2B5EF4-FFF2-40B4-BE49-F238E27FC236}">
                <a16:creationId xmlns:a16="http://schemas.microsoft.com/office/drawing/2014/main" id="{CD652D7B-9D9A-4A8D-868F-2A2051D5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Deploy and Observe locally</a:t>
            </a:r>
          </a:p>
        </p:txBody>
      </p:sp>
      <p:sp>
        <p:nvSpPr>
          <p:cNvPr id="3" name="text-c097wb-76-184">
            <a:extLst xmlns:a="http://schemas.openxmlformats.org/drawingml/2006/main">
              <a:ext uri="{FF2B5EF4-FFF2-40B4-BE49-F238E27FC236}">
                <a16:creationId xmlns:a16="http://schemas.microsoft.com/office/drawing/2014/main" id="{883216C5-A9C5-41E2-B2DA-C5E7E602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51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localhost</a:t>
            </a:r>
          </a:p>
        </p:txBody>
      </p:sp>
      <p:sp>
        <p:nvSpPr>
          <p:cNvPr id="4" name="text-c097wb-76-305">
            <a:extLst xmlns:a="http://schemas.openxmlformats.org/drawingml/2006/main">
              <a:ext uri="{FF2B5EF4-FFF2-40B4-BE49-F238E27FC236}">
                <a16:creationId xmlns:a16="http://schemas.microsoft.com/office/drawing/2014/main" id="{357E5B17-99EB-47FB-8475-C11BAA44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7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Open the approved revision and test the game</a:t>
            </a:r>
          </a:p>
        </p:txBody>
      </p:sp>
      <p:sp>
        <p:nvSpPr>
          <p:cNvPr id="5" name="text-c097wb-76-424">
            <a:extLst xmlns:a="http://schemas.openxmlformats.org/drawingml/2006/main">
              <a:ext uri="{FF2B5EF4-FFF2-40B4-BE49-F238E27FC236}">
                <a16:creationId xmlns:a16="http://schemas.microsoft.com/office/drawing/2014/main" id="{F357A739-8B9C-408D-B0E7-EA50996E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858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22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round_started</a:t>
            </a:r>
          </a:p>
          <a:p xmlns:a="http://schemas.openxmlformats.org/drawingml/2006/main">
            <a:pPr>
              <a:buNone/>
              <a:defRPr sz="22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22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guess_submitted</a:t>
            </a:r>
          </a:p>
          <a:p xmlns:a="http://schemas.openxmlformats.org/drawingml/2006/main">
            <a:pPr>
              <a:buNone/>
              <a:defRPr sz="22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22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round_completed</a:t>
            </a:r>
          </a:p>
        </p:txBody>
      </p:sp>
      <p:sp>
        <p:nvSpPr>
          <p:cNvPr id="6" name="text-c097wb-887-425">
            <a:extLst xmlns:a="http://schemas.openxmlformats.org/drawingml/2006/main">
              <a:ext uri="{FF2B5EF4-FFF2-40B4-BE49-F238E27FC236}">
                <a16:creationId xmlns:a16="http://schemas.microsoft.com/office/drawing/2014/main" id="{42F1FCA7-4409-4721-A6F7-48D18770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048125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source=test</a:t>
            </a:r>
          </a:p>
          <a:p xmlns:a="http://schemas.openxmlformats.org/drawingml/2006/main">
            <a:pPr>
              <a:buNone/>
              <a:defRPr sz="2025" b="0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separate from</a:t>
            </a:r>
          </a:p>
          <a:p xmlns:a="http://schemas.openxmlformats.org/drawingml/2006/main">
            <a:pPr>
              <a:buNone/>
              <a:defRPr sz="2025" b="0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2025" b="0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source=real</a:t>
            </a:r>
          </a:p>
        </p:txBody>
      </p:sp>
      <p:sp>
        <p:nvSpPr>
          <p:cNvPr id="7" name="text-c097wb-76-605">
            <a:extLst xmlns:a="http://schemas.openxmlformats.org/drawingml/2006/main">
              <a:ext uri="{FF2B5EF4-FFF2-40B4-BE49-F238E27FC236}">
                <a16:creationId xmlns:a16="http://schemas.microsoft.com/office/drawing/2014/main" id="{FD2A8006-A2EE-414C-BA18-B1F3AAAE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Keep events local. Do not ask players to replay while you measure behavior.</a:t>
            </a:r>
          </a:p>
        </p:txBody>
      </p:sp>
    </p:spTree>
    <p:extLst>
      <p:ext uri="{BB962C8B-B14F-4D97-AF65-F5344CB8AC3E}">
        <p14:creationId xmlns:p14="http://schemas.microsoft.com/office/powerpoint/2010/main" val="18596094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8dzfh7-1160-657">
            <a:extLst xmlns:a="http://schemas.openxmlformats.org/drawingml/2006/main">
              <a:ext uri="{FF2B5EF4-FFF2-40B4-BE49-F238E27FC236}">
                <a16:creationId xmlns:a16="http://schemas.microsoft.com/office/drawing/2014/main" id="{EDC86912-2941-4BE1-83F0-9BED2CB6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13</a:t>
            </a:r>
          </a:p>
        </p:txBody>
      </p:sp>
      <p:sp>
        <p:nvSpPr>
          <p:cNvPr id="2" name="text-8dzfh7-76-122">
            <a:extLst xmlns:a="http://schemas.openxmlformats.org/drawingml/2006/main">
              <a:ext uri="{FF2B5EF4-FFF2-40B4-BE49-F238E27FC236}">
                <a16:creationId xmlns:a16="http://schemas.microsoft.com/office/drawing/2014/main" id="{260174DF-8196-473A-B6AC-94EA9A4D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620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325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Intent 2</a:t>
            </a:r>
          </a:p>
        </p:txBody>
      </p:sp>
      <p:sp>
        <p:nvSpPr>
          <p:cNvPr id="3" name="text-8dzfh7-76-242">
            <a:extLst xmlns:a="http://schemas.openxmlformats.org/drawingml/2006/main">
              <a:ext uri="{FF2B5EF4-FFF2-40B4-BE49-F238E27FC236}">
                <a16:creationId xmlns:a16="http://schemas.microsoft.com/office/drawing/2014/main" id="{3504C8C4-CC9C-45AC-A787-C8379644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465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“How can we help players</a:t>
            </a:r>
          </a:p>
          <a:p xmlns:a="http://schemas.openxmlformats.org/drawingml/2006/main">
            <a:pPr>
              <a:buNone/>
              <a:defRPr sz="465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465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play for longer?”</a:t>
            </a:r>
          </a:p>
        </p:txBody>
      </p:sp>
      <p:sp>
        <p:nvSpPr>
          <p:cNvPr id="4" name="text-8dzfh7-76-532">
            <a:extLst xmlns:a="http://schemas.openxmlformats.org/drawingml/2006/main">
              <a:ext uri="{FF2B5EF4-FFF2-40B4-BE49-F238E27FC236}">
                <a16:creationId xmlns:a16="http://schemas.microsoft.com/office/drawing/2014/main" id="{4E349F18-7F97-4528-8064-44034F33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What we can measure: Does the player choose a second round?</a:t>
            </a:r>
          </a:p>
        </p:txBody>
      </p:sp>
    </p:spTree>
    <p:extLst>
      <p:ext uri="{BB962C8B-B14F-4D97-AF65-F5344CB8AC3E}">
        <p14:creationId xmlns:p14="http://schemas.microsoft.com/office/powerpoint/2010/main" val="18105838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g7gjmc-1160-657">
            <a:extLst xmlns:a="http://schemas.openxmlformats.org/drawingml/2006/main">
              <a:ext uri="{FF2B5EF4-FFF2-40B4-BE49-F238E27FC236}">
                <a16:creationId xmlns:a16="http://schemas.microsoft.com/office/drawing/2014/main" id="{C1376699-4525-41A6-859A-C73EB995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14</a:t>
            </a:r>
          </a:p>
        </p:txBody>
      </p:sp>
      <p:sp>
        <p:nvSpPr>
          <p:cNvPr id="2" name="text-g7gjmc-72-58">
            <a:extLst xmlns:a="http://schemas.openxmlformats.org/drawingml/2006/main">
              <a:ext uri="{FF2B5EF4-FFF2-40B4-BE49-F238E27FC236}">
                <a16:creationId xmlns:a16="http://schemas.microsoft.com/office/drawing/2014/main" id="{C1C52AE2-A29C-40C5-AB18-BE5579B9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Intent 2: Play again button</a:t>
            </a:r>
          </a:p>
        </p:txBody>
      </p:sp>
      <p:sp>
        <p:nvSpPr>
          <p:cNvPr id="3" name="text-g7gjmc-76-185">
            <a:extLst xmlns:a="http://schemas.openxmlformats.org/drawingml/2006/main">
              <a:ext uri="{FF2B5EF4-FFF2-40B4-BE49-F238E27FC236}">
                <a16:creationId xmlns:a16="http://schemas.microsoft.com/office/drawing/2014/main" id="{408962B6-707E-4945-A630-F4FA47AC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5429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780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780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+15</a:t>
            </a:r>
          </a:p>
        </p:txBody>
      </p:sp>
      <p:sp>
        <p:nvSpPr>
          <p:cNvPr id="4" name="text-g7gjmc-78-337">
            <a:extLst xmlns:a="http://schemas.openxmlformats.org/drawingml/2006/main">
              <a:ext uri="{FF2B5EF4-FFF2-40B4-BE49-F238E27FC236}">
                <a16:creationId xmlns:a16="http://schemas.microsoft.com/office/drawing/2014/main" id="{25ECBD63-406B-4A10-A752-C7E3266E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552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percentage points</a:t>
            </a:r>
          </a:p>
        </p:txBody>
      </p:sp>
      <p:sp>
        <p:nvSpPr>
          <p:cNvPr id="5" name="text-g7gjmc-78-417">
            <a:extLst xmlns:a="http://schemas.openxmlformats.org/drawingml/2006/main">
              <a:ext uri="{FF2B5EF4-FFF2-40B4-BE49-F238E27FC236}">
                <a16:creationId xmlns:a16="http://schemas.microsoft.com/office/drawing/2014/main" id="{2D24807A-786A-47E4-85BD-EFA8840D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71925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4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Target rise in replay rate</a:t>
            </a:r>
          </a:p>
        </p:txBody>
      </p:sp>
      <p:sp>
        <p:nvSpPr>
          <p:cNvPr id="6" name="text-g7gjmc-758-185">
            <a:extLst xmlns:a="http://schemas.openxmlformats.org/drawingml/2006/main">
              <a:ext uri="{FF2B5EF4-FFF2-40B4-BE49-F238E27FC236}">
                <a16:creationId xmlns:a16="http://schemas.microsoft.com/office/drawing/2014/main" id="{C449371C-C95A-4B91-9645-0C38F0A4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6212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7800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7800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−5</a:t>
            </a:r>
          </a:p>
        </p:txBody>
      </p:sp>
      <p:sp>
        <p:nvSpPr>
          <p:cNvPr id="7" name="text-g7gjmc-760-337">
            <a:extLst xmlns:a="http://schemas.openxmlformats.org/drawingml/2006/main">
              <a:ext uri="{FF2B5EF4-FFF2-40B4-BE49-F238E27FC236}">
                <a16:creationId xmlns:a16="http://schemas.microsoft.com/office/drawing/2014/main" id="{C0BCAACE-B772-4796-B532-B1DBDEAD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9925"/>
            <a:ext cx="4095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2175" b="0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percentage points</a:t>
            </a:r>
          </a:p>
        </p:txBody>
      </p:sp>
      <p:sp>
        <p:nvSpPr>
          <p:cNvPr id="8" name="text-g7gjmc-760-417">
            <a:extLst xmlns:a="http://schemas.openxmlformats.org/drawingml/2006/main">
              <a:ext uri="{FF2B5EF4-FFF2-40B4-BE49-F238E27FC236}">
                <a16:creationId xmlns:a16="http://schemas.microsoft.com/office/drawing/2014/main" id="{B188551E-8359-4DF6-AB61-EAB3FEB5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71925"/>
            <a:ext cx="4333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25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Largest allowed completion drop</a:t>
            </a:r>
          </a:p>
        </p:txBody>
      </p:sp>
      <p:sp>
        <p:nvSpPr>
          <p:cNvPr id="9" name="text-g7gjmc-76-605">
            <a:extLst xmlns:a="http://schemas.openxmlformats.org/drawingml/2006/main">
              <a:ext uri="{FF2B5EF4-FFF2-40B4-BE49-F238E27FC236}">
                <a16:creationId xmlns:a16="http://schemas.microsoft.com/office/drawing/2014/main" id="{09E082E2-E129-4471-A358-99E9DAC5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Change only replay. Keep the game rules and earlier checks.</a:t>
            </a:r>
          </a:p>
        </p:txBody>
      </p:sp>
    </p:spTree>
    <p:extLst>
      <p:ext uri="{BB962C8B-B14F-4D97-AF65-F5344CB8AC3E}">
        <p14:creationId xmlns:p14="http://schemas.microsoft.com/office/powerpoint/2010/main" val="10633782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tgy3ow-1160-657">
            <a:extLst xmlns:a="http://schemas.openxmlformats.org/drawingml/2006/main">
              <a:ext uri="{FF2B5EF4-FFF2-40B4-BE49-F238E27FC236}">
                <a16:creationId xmlns:a16="http://schemas.microsoft.com/office/drawing/2014/main" id="{E639386F-31FA-4B2D-A332-A51FEFD8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15</a:t>
            </a:r>
          </a:p>
        </p:txBody>
      </p:sp>
      <p:sp>
        <p:nvSpPr>
          <p:cNvPr id="2" name="text-tgy3ow-72-58">
            <a:extLst xmlns:a="http://schemas.openxmlformats.org/drawingml/2006/main">
              <a:ext uri="{FF2B5EF4-FFF2-40B4-BE49-F238E27FC236}">
                <a16:creationId xmlns:a16="http://schemas.microsoft.com/office/drawing/2014/main" id="{C4E99722-C63C-4764-9622-F03E2529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Observe real play data</a:t>
            </a:r>
          </a:p>
        </p:txBody>
      </p:sp>
      <p:sp>
        <p:nvSpPr>
          <p:cNvPr id="4" name="text-tgy3ow-925-228">
            <a:extLst xmlns:a="http://schemas.openxmlformats.org/drawingml/2006/main">
              <a:ext uri="{FF2B5EF4-FFF2-40B4-BE49-F238E27FC236}">
                <a16:creationId xmlns:a16="http://schemas.microsoft.com/office/drawing/2014/main" id="{75299BAB-094C-481C-9C89-AE2A6A07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717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1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Measures</a:t>
            </a:r>
          </a:p>
        </p:txBody>
      </p:sp>
      <p:sp>
        <p:nvSpPr>
          <p:cNvPr id="5" name="text-tgy3ow-925-287">
            <a:extLst xmlns:a="http://schemas.openxmlformats.org/drawingml/2006/main">
              <a:ext uri="{FF2B5EF4-FFF2-40B4-BE49-F238E27FC236}">
                <a16:creationId xmlns:a16="http://schemas.microsoft.com/office/drawing/2014/main" id="{74AECFA6-3255-46CC-8077-A799263D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3367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33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Completion</a:t>
            </a:r>
            <a:br/>
            <a:r>
              <a:rPr sz="33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Replay</a:t>
            </a:r>
          </a:p>
        </p:txBody>
      </p:sp>
      <p:sp>
        <p:nvSpPr>
          <p:cNvPr id="6" name="text-tgy3ow-925-406">
            <a:extLst xmlns:a="http://schemas.openxmlformats.org/drawingml/2006/main">
              <a:ext uri="{FF2B5EF4-FFF2-40B4-BE49-F238E27FC236}">
                <a16:creationId xmlns:a16="http://schemas.microsoft.com/office/drawing/2014/main" id="{60871CEE-1985-48D8-9DE9-2CF55B62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3381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2100" b="1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If data is weak</a:t>
            </a:r>
          </a:p>
        </p:txBody>
      </p:sp>
      <p:sp>
        <p:nvSpPr>
          <p:cNvPr id="7" name="text-tgy3ow-925-465">
            <a:extLst xmlns:a="http://schemas.openxmlformats.org/drawingml/2006/main">
              <a:ext uri="{FF2B5EF4-FFF2-40B4-BE49-F238E27FC236}">
                <a16:creationId xmlns:a16="http://schemas.microsoft.com/office/drawing/2014/main" id="{3B6CAE4B-4224-49DD-A16B-F26530C0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2912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AE4C28"/>
                </a:solidFill>
                <a:latin typeface="Thonburi"/>
                <a:ea typeface="Thonburi"/>
                <a:cs typeface="Thonburi"/>
              </a:defRPr>
            </a:pPr>
            <a:r>
              <a:rPr sz="3300" b="1">
                <a:solidFill>
                  <a:srgbClr val="AE4C28"/>
                </a:solidFill>
                <a:latin typeface="Thonburi"/>
                <a:ea typeface="Thonburi"/>
                <a:cs typeface="Thonburi"/>
              </a:rPr>
              <a:t>INSUFFICIENT
EVIDENCE</a:t>
            </a:r>
          </a:p>
        </p:txBody>
      </p:sp>
      <p:sp>
        <p:nvSpPr>
          <p:cNvPr id="8" name="text-tgy3ow-76-605">
            <a:extLst xmlns:a="http://schemas.openxmlformats.org/drawingml/2006/main">
              <a:ext uri="{FF2B5EF4-FFF2-40B4-BE49-F238E27FC236}">
                <a16:creationId xmlns:a16="http://schemas.microsoft.com/office/drawing/2014/main" id="{ED0C9AB3-8D24-41CA-97E8-7F087AEB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73234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173234"/>
                </a:solidFill>
                <a:latin typeface="Thonburi"/>
                <a:ea typeface="Thonburi"/>
                <a:cs typeface="Thonburi"/>
              </a:rPr>
              <a:t>Do not create data or numbers to fill a gap.</a:t>
            </a:r>
          </a:p>
        </p:txBody>
      </p:sp>
      <p:sp>
        <p:nvSpPr>
          <p:cNvPr id="10" name="real-telemetry-guide">
            <a:extLst xmlns:a="http://schemas.openxmlformats.org/drawingml/2006/main">
              <a:ext uri="{FF2B5EF4-FFF2-40B4-BE49-F238E27FC236}">
                <a16:creationId xmlns:a16="http://schemas.microsoft.com/office/drawing/2014/main" id="{41B2A389-30AA-4107-BF1B-F7B11E41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723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7312F"/>
                </a:solidFill>
                <a:latin typeface="Thonburi"/>
                <a:ea typeface="Thonburi"/>
                <a:cs typeface="Thonburi"/>
              </a:defRPr>
            </a:pPr>
            <a:r>
              <a:rPr sz="2100">
                <a:solidFill>
                  <a:srgbClr val="17312F"/>
                </a:solidFill>
                <a:latin typeface="Thonburi"/>
                <a:ea typeface="Thonburi"/>
                <a:cs typeface="Thonburi"/>
              </a:rPr>
              <a:t>Read real events from</a:t>
            </a:r>
          </a:p>
          <a:p xmlns:a="http://schemas.openxmlformats.org/drawingml/2006/main">
            <a:pPr>
              <a:buNone/>
              <a:defRPr sz="2100">
                <a:solidFill>
                  <a:srgbClr val="17312F"/>
                </a:solidFill>
                <a:latin typeface="Thonburi"/>
                <a:ea typeface="Thonburi"/>
                <a:cs typeface="Thonburi"/>
              </a:defRPr>
            </a:pPr>
            <a:r>
              <a:rPr sz="2100">
                <a:solidFill>
                  <a:srgbClr val="17312F"/>
                </a:solidFill>
                <a:latin typeface="Thonburi"/>
                <a:ea typeface="Thonburi"/>
                <a:cs typeface="Thonburi"/>
              </a:rPr>
              <a:t>telemetry/events.jsonl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312F"/>
                </a:solidFill>
                <a:latin typeface="Thonburi"/>
                <a:ea typeface="Thonburi"/>
                <a:cs typeface="Thonburi"/>
              </a:defRPr>
            </a:pPr>
            <a:r>
              <a:rPr sz="2100">
                <a:solidFill>
                  <a:srgbClr val="17312F"/>
                </a:solidFill>
                <a:latin typeface="Thonburi"/>
                <a:ea typeface="Thonburi"/>
                <a:cs typeface="Thonburi"/>
              </a:rPr>
              <a:t>Compare eligible v1 and v2 sessions.</a:t>
            </a:r>
          </a:p>
          <a:p xmlns:a="http://schemas.openxmlformats.org/drawingml/2006/main">
            <a:pPr>
              <a:buNone/>
              <a:defRPr sz="2100">
                <a:solidFill>
                  <a:srgbClr val="17312F"/>
                </a:solidFill>
                <a:latin typeface="Thonburi"/>
                <a:ea typeface="Thonburi"/>
                <a:cs typeface="Thonburi"/>
              </a:defRPr>
            </a:pPr>
            <a:r>
              <a:rPr sz="2100">
                <a:solidFill>
                  <a:srgbClr val="17312F"/>
                </a:solidFill>
                <a:latin typeface="Thonburi"/>
                <a:ea typeface="Thonburi"/>
                <a:cs typeface="Thonburi"/>
              </a:rPr>
              <a:t>Use the full five-minute follow-up window.</a:t>
            </a:r>
          </a:p>
        </p:txBody>
      </p:sp>
    </p:spTree>
    <p:extLst>
      <p:ext uri="{BB962C8B-B14F-4D97-AF65-F5344CB8AC3E}">
        <p14:creationId xmlns:p14="http://schemas.microsoft.com/office/powerpoint/2010/main" val="35977126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didr06-1160-657">
            <a:extLst xmlns:a="http://schemas.openxmlformats.org/drawingml/2006/main">
              <a:ext uri="{FF2B5EF4-FFF2-40B4-BE49-F238E27FC236}">
                <a16:creationId xmlns:a16="http://schemas.microsoft.com/office/drawing/2014/main" id="{FE19FF09-0F37-4B4A-AC72-0A8A3973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16</a:t>
            </a:r>
          </a:p>
        </p:txBody>
      </p:sp>
      <p:sp>
        <p:nvSpPr>
          <p:cNvPr id="2" name="text-didr06-72-58">
            <a:extLst xmlns:a="http://schemas.openxmlformats.org/drawingml/2006/main">
              <a:ext uri="{FF2B5EF4-FFF2-40B4-BE49-F238E27FC236}">
                <a16:creationId xmlns:a16="http://schemas.microsoft.com/office/drawing/2014/main" id="{7EF8AA38-6640-466C-8B2F-C4B369FA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Govern with the evidence you have</a:t>
            </a:r>
          </a:p>
        </p:txBody>
      </p:sp>
      <p:sp>
        <p:nvSpPr>
          <p:cNvPr id="3" name="text-didr06-76-186">
            <a:extLst xmlns:a="http://schemas.openxmlformats.org/drawingml/2006/main">
              <a:ext uri="{FF2B5EF4-FFF2-40B4-BE49-F238E27FC236}">
                <a16:creationId xmlns:a16="http://schemas.microsoft.com/office/drawing/2014/main" id="{D987D498-23B7-4E6D-93ED-B13CEEC2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36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Enough evidence</a:t>
            </a:r>
          </a:p>
        </p:txBody>
      </p:sp>
      <p:sp>
        <p:nvSpPr>
          <p:cNvPr id="4" name="text-didr06-76-302">
            <a:extLst xmlns:a="http://schemas.openxmlformats.org/drawingml/2006/main">
              <a:ext uri="{FF2B5EF4-FFF2-40B4-BE49-F238E27FC236}">
                <a16:creationId xmlns:a16="http://schemas.microsoft.com/office/drawing/2014/main" id="{433DB54C-E609-4B02-948C-C1B679B7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3675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Weak or missing evidence</a:t>
            </a:r>
          </a:p>
        </p:txBody>
      </p:sp>
      <p:sp>
        <p:nvSpPr>
          <p:cNvPr id="5" name="text-didr06-76-458">
            <a:extLst xmlns:a="http://schemas.openxmlformats.org/drawingml/2006/main">
              <a:ext uri="{FF2B5EF4-FFF2-40B4-BE49-F238E27FC236}">
                <a16:creationId xmlns:a16="http://schemas.microsoft.com/office/drawing/2014/main" id="{E2D5D557-A52F-4FB1-AA78-8142D8E3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Will you release, revise, stop, or collect more data?</a:t>
            </a:r>
          </a:p>
        </p:txBody>
      </p:sp>
      <p:sp>
        <p:nvSpPr>
          <p:cNvPr id="6" name="text-didr06-76-605">
            <a:extLst xmlns:a="http://schemas.openxmlformats.org/drawingml/2006/main">
              <a:ext uri="{FF2B5EF4-FFF2-40B4-BE49-F238E27FC236}">
                <a16:creationId xmlns:a16="http://schemas.microsoft.com/office/drawing/2014/main" id="{DF83B351-6465-45AE-912C-2642AE29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Use every guardrail and state the limits of the data.</a:t>
            </a:r>
          </a:p>
        </p:txBody>
      </p:sp>
    </p:spTree>
    <p:extLst>
      <p:ext uri="{BB962C8B-B14F-4D97-AF65-F5344CB8AC3E}">
        <p14:creationId xmlns:p14="http://schemas.microsoft.com/office/powerpoint/2010/main" val="20142452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q9aqk4-1160-657">
            <a:extLst xmlns:a="http://schemas.openxmlformats.org/drawingml/2006/main">
              <a:ext uri="{FF2B5EF4-FFF2-40B4-BE49-F238E27FC236}">
                <a16:creationId xmlns:a16="http://schemas.microsoft.com/office/drawing/2014/main" id="{D865F05E-6909-4349-8AD1-7B0E34BE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17</a:t>
            </a:r>
          </a:p>
        </p:txBody>
      </p:sp>
      <p:sp>
        <p:nvSpPr>
          <p:cNvPr id="2" name="text-q9aqk4-72-58">
            <a:extLst xmlns:a="http://schemas.openxmlformats.org/drawingml/2006/main">
              <a:ext uri="{FF2B5EF4-FFF2-40B4-BE49-F238E27FC236}">
                <a16:creationId xmlns:a16="http://schemas.microsoft.com/office/drawing/2014/main" id="{58030B03-6C73-490E-B4D6-F006B61D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The path in README.md</a:t>
            </a:r>
          </a:p>
        </p:txBody>
      </p:sp>
      <p:sp>
        <p:nvSpPr>
          <p:cNvPr id="3" name="text-q9aqk4-76-190">
            <a:extLst xmlns:a="http://schemas.openxmlformats.org/drawingml/2006/main">
              <a:ext uri="{FF2B5EF4-FFF2-40B4-BE49-F238E27FC236}">
                <a16:creationId xmlns:a16="http://schemas.microsoft.com/office/drawing/2014/main" id="{556DDE9B-5C30-475F-B5BF-F0EB9BB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3675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Step 0–6</a:t>
            </a:r>
          </a:p>
        </p:txBody>
      </p:sp>
      <p:sp>
        <p:nvSpPr>
          <p:cNvPr id="4" name="text-q9aqk4-76-295">
            <a:extLst xmlns:a="http://schemas.openxmlformats.org/drawingml/2006/main">
              <a:ext uri="{FF2B5EF4-FFF2-40B4-BE49-F238E27FC236}">
                <a16:creationId xmlns:a16="http://schemas.microsoft.com/office/drawing/2014/main" id="{B7049AF5-EC72-462B-9A3D-3487D387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5048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Intent 1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Generate ↔ Validate in two loops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Govern, then Deploy v1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Observe ↔ Govern the result</a:t>
            </a:r>
          </a:p>
        </p:txBody>
      </p:sp>
      <p:sp>
        <p:nvSpPr>
          <p:cNvPr id="5" name="text-q9aqk4-690-190">
            <a:extLst xmlns:a="http://schemas.openxmlformats.org/drawingml/2006/main">
              <a:ext uri="{FF2B5EF4-FFF2-40B4-BE49-F238E27FC236}">
                <a16:creationId xmlns:a16="http://schemas.microsoft.com/office/drawing/2014/main" id="{129FD526-0C1F-44EF-8C18-5531A984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857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FFAC80"/>
                </a:solidFill>
                <a:latin typeface="Thonburi"/>
                <a:ea typeface="Thonburi"/>
                <a:cs typeface="Thonburi"/>
              </a:defRPr>
            </a:pPr>
            <a:r>
              <a:rPr sz="3675" b="1">
                <a:solidFill>
                  <a:srgbClr val="FFAC80"/>
                </a:solidFill>
                <a:latin typeface="Thonburi"/>
                <a:ea typeface="Thonburi"/>
                <a:cs typeface="Thonburi"/>
              </a:rPr>
              <a:t>Step 7–11</a:t>
            </a:r>
          </a:p>
        </p:txBody>
      </p:sp>
      <p:sp>
        <p:nvSpPr>
          <p:cNvPr id="6" name="text-q9aqk4-690-295">
            <a:extLst xmlns:a="http://schemas.openxmlformats.org/drawingml/2006/main">
              <a:ext uri="{FF2B5EF4-FFF2-40B4-BE49-F238E27FC236}">
                <a16:creationId xmlns:a16="http://schemas.microsoft.com/office/drawing/2014/main" id="{15E4C1C5-48EA-43FE-AC37-0722D382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4953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Intent 2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Generate ↔ Validate replay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Govern 10A, then Deploy 10B</a:t>
            </a:r>
          </a:p>
          <a:p xmlns:a="http://schemas.openxmlformats.org/drawingml/2006/main">
            <a:pPr>
              <a:buNone/>
              <a:defRPr sz="2325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325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Observe ↔ Govern and resolution</a:t>
            </a:r>
          </a:p>
        </p:txBody>
      </p:sp>
      <p:sp>
        <p:nvSpPr>
          <p:cNvPr id="7" name="text-q9aqk4-76-605">
            <a:extLst xmlns:a="http://schemas.openxmlformats.org/drawingml/2006/main">
              <a:ext uri="{FF2B5EF4-FFF2-40B4-BE49-F238E27FC236}">
                <a16:creationId xmlns:a16="http://schemas.microsoft.com/office/drawing/2014/main" id="{57A09D0B-A2B8-417A-BB01-B0712DFF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Take one Step at a time. Read the evidence before you continue.</a:t>
            </a:r>
          </a:p>
        </p:txBody>
      </p:sp>
    </p:spTree>
    <p:extLst>
      <p:ext uri="{BB962C8B-B14F-4D97-AF65-F5344CB8AC3E}">
        <p14:creationId xmlns:p14="http://schemas.microsoft.com/office/powerpoint/2010/main" val="8495985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3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a6lt57-1160-657">
            <a:extLst xmlns:a="http://schemas.openxmlformats.org/drawingml/2006/main">
              <a:ext uri="{FF2B5EF4-FFF2-40B4-BE49-F238E27FC236}">
                <a16:creationId xmlns:a16="http://schemas.microsoft.com/office/drawing/2014/main" id="{0C5F7B64-A1C7-4DD2-9C2D-F34AB5CC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57925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350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18</a:t>
            </a:r>
          </a:p>
        </p:txBody>
      </p:sp>
      <p:sp>
        <p:nvSpPr>
          <p:cNvPr id="2" name="text-a6lt57-72-58">
            <a:extLst xmlns:a="http://schemas.openxmlformats.org/drawingml/2006/main">
              <a:ext uri="{FF2B5EF4-FFF2-40B4-BE49-F238E27FC236}">
                <a16:creationId xmlns:a16="http://schemas.microsoft.com/office/drawing/2014/main" id="{C28D62D9-7B1D-4EA7-ABF9-B90D4646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3450" b="1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Start with Step 0</a:t>
            </a:r>
          </a:p>
        </p:txBody>
      </p:sp>
      <p:sp>
        <p:nvSpPr>
          <p:cNvPr id="3" name="text-a6lt57-76-195">
            <a:extLst xmlns:a="http://schemas.openxmlformats.org/drawingml/2006/main">
              <a:ext uri="{FF2B5EF4-FFF2-40B4-BE49-F238E27FC236}">
                <a16:creationId xmlns:a16="http://schemas.microsoft.com/office/drawing/2014/main" id="{D0D2C90E-1411-415C-B446-071CB9D9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D5F271"/>
                </a:solidFill>
                <a:latin typeface="Thonburi"/>
                <a:ea typeface="Thonburi"/>
                <a:cs typeface="Thonburi"/>
              </a:defRPr>
            </a:pPr>
            <a:r>
              <a:rPr sz="4350" b="1">
                <a:solidFill>
                  <a:srgbClr val="D5F271"/>
                </a:solidFill>
                <a:latin typeface="Thonburi"/>
                <a:ea typeface="Thonburi"/>
                <a:cs typeface="Thonburi"/>
              </a:rPr>
              <a:t>Open README.md</a:t>
            </a:r>
          </a:p>
        </p:txBody>
      </p:sp>
      <p:sp>
        <p:nvSpPr>
          <p:cNvPr id="4" name="text-a6lt57-76-326">
            <a:extLst xmlns:a="http://schemas.openxmlformats.org/drawingml/2006/main">
              <a:ext uri="{FF2B5EF4-FFF2-40B4-BE49-F238E27FC236}">
                <a16:creationId xmlns:a16="http://schemas.microsoft.com/office/drawing/2014/main" id="{37575E31-75E4-4B83-9278-8B07DBA3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1057275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“Do only Step 0</a:t>
            </a:r>
          </a:p>
          <a:p xmlns:a="http://schemas.openxmlformats.org/drawingml/2006/main">
            <a:pPr>
              <a:buNone/>
              <a:defRPr sz="27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Read AGENTS.md and check six Skills</a:t>
            </a:r>
          </a:p>
          <a:p xmlns:a="http://schemas.openxmlformats.org/drawingml/2006/main">
            <a:pPr>
              <a:buNone/>
              <a:defRPr sz="2700" b="0">
                <a:solidFill>
                  <a:srgbClr val="F5F2E9"/>
                </a:solidFill>
                <a:latin typeface="Thonburi"/>
                <a:ea typeface="Thonburi"/>
                <a:cs typeface="Thonburi"/>
              </a:defRPr>
            </a:pPr>
            <a:r>
              <a:rPr sz="2700" b="0">
                <a:solidFill>
                  <a:srgbClr val="F5F2E9"/>
                </a:solidFill>
                <a:latin typeface="Thonburi"/>
                <a:ea typeface="Thonburi"/>
                <a:cs typeface="Thonburi"/>
              </a:rPr>
              <a:t>Do not build the game or start the next Step”</a:t>
            </a:r>
          </a:p>
        </p:txBody>
      </p:sp>
      <p:sp>
        <p:nvSpPr>
          <p:cNvPr id="5" name="text-a6lt57-76-605">
            <a:extLst xmlns:a="http://schemas.openxmlformats.org/drawingml/2006/main">
              <a:ext uri="{FF2B5EF4-FFF2-40B4-BE49-F238E27FC236}">
                <a16:creationId xmlns:a16="http://schemas.microsoft.com/office/drawing/2014/main" id="{0F09FD94-8A1A-42C4-A122-C64BDADA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B2C7C7"/>
                </a:solidFill>
                <a:latin typeface="Thonburi"/>
                <a:ea typeface="Thonburi"/>
                <a:cs typeface="Thonburi"/>
              </a:defRPr>
            </a:pPr>
            <a:r>
              <a:rPr sz="1575" b="0">
                <a:solidFill>
                  <a:srgbClr val="B2C7C7"/>
                </a:solidFill>
                <a:latin typeface="Thonburi"/>
                <a:ea typeface="Thonburi"/>
                <a:cs typeface="Thonburi"/>
              </a:rPr>
              <a:t>At the end: two game versions, decision evidence, a resolution, and the next Intent</a:t>
            </a:r>
          </a:p>
        </p:txBody>
      </p:sp>
    </p:spTree>
    <p:extLst>
      <p:ext uri="{BB962C8B-B14F-4D97-AF65-F5344CB8AC3E}">
        <p14:creationId xmlns:p14="http://schemas.microsoft.com/office/powerpoint/2010/main" val="7376818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2026-09-08T10:09:43.0760000Z</dcterms:created>
  <dcterms:modified xsi:type="dcterms:W3CDTF">2026-09-08T10:09:43.0760000Z</dcterms:modified>
</coreProperties>
</file>